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3d4f0623cc4bfd" /><Relationship Type="http://schemas.openxmlformats.org/officeDocument/2006/relationships/extended-properties" Target="/docProps/app.xml" Id="R814be368581441f3" /><Relationship Type="http://schemas.openxmlformats.org/officeDocument/2006/relationships/officeDocument" Target="/ppt/presentation.xml" Id="Rc5be65194ce047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829bb22e2d4290"/>
  </p:sldMasterIdLst>
  <p:notesMasterIdLst>
    <p:notesMasterId xmlns:r="http://schemas.openxmlformats.org/officeDocument/2006/relationships" r:id="Rb7cc4faec024478d"/>
  </p:notesMasterIdLst>
  <p:sldIdLst>
    <p:sldId xmlns:r="http://schemas.openxmlformats.org/officeDocument/2006/relationships" id="256" r:id="R86f2d8654bd948e1"/>
    <p:sldId xmlns:r="http://schemas.openxmlformats.org/officeDocument/2006/relationships" id="257" r:id="R0adc04a2ed9143bc"/>
    <p:sldId xmlns:r="http://schemas.openxmlformats.org/officeDocument/2006/relationships" id="258" r:id="Re01c28b462d54048"/>
    <p:sldId xmlns:r="http://schemas.openxmlformats.org/officeDocument/2006/relationships" id="259" r:id="R1c98944fdc924bad"/>
    <p:sldId xmlns:r="http://schemas.openxmlformats.org/officeDocument/2006/relationships" id="260" r:id="R70c3879a66f14d69"/>
    <p:sldId xmlns:r="http://schemas.openxmlformats.org/officeDocument/2006/relationships" id="261" r:id="R0689c56aed35405f"/>
    <p:sldId xmlns:r="http://schemas.openxmlformats.org/officeDocument/2006/relationships" id="262" r:id="Rfbefc755d4b24662"/>
    <p:sldId xmlns:r="http://schemas.openxmlformats.org/officeDocument/2006/relationships" id="263" r:id="Rbf9ef1eb35494253"/>
    <p:sldId xmlns:r="http://schemas.openxmlformats.org/officeDocument/2006/relationships" id="264" r:id="R16ce710c6c994b36"/>
    <p:sldId xmlns:r="http://schemas.openxmlformats.org/officeDocument/2006/relationships" id="265" r:id="Re14dd958be40403b"/>
    <p:sldId xmlns:r="http://schemas.openxmlformats.org/officeDocument/2006/relationships" id="266" r:id="R833c3074f4f8478b"/>
    <p:sldId xmlns:r="http://schemas.openxmlformats.org/officeDocument/2006/relationships" id="267" r:id="R2f7a756dc03b4ed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798d20c5e543d5" /><Relationship Type="http://schemas.openxmlformats.org/officeDocument/2006/relationships/slideMaster" Target="/ppt/slideMasters/slideMaster1.xml" Id="Ra9829bb22e2d4290" /><Relationship Type="http://schemas.openxmlformats.org/officeDocument/2006/relationships/notesMaster" Target="/ppt/notesMasters/notesMaster1.xml" Id="Rb7cc4faec024478d" /><Relationship Type="http://schemas.openxmlformats.org/officeDocument/2006/relationships/presProps" Target="/ppt/presProps.xml" Id="Ra9f62c404a664333" /><Relationship Type="http://schemas.openxmlformats.org/officeDocument/2006/relationships/tableStyles" Target="/ppt/tableStyles.xml" Id="R2d9ada2818954592" /><Relationship Type="http://schemas.openxmlformats.org/officeDocument/2006/relationships/slide" Target="/ppt/slides/slide1.xml" Id="R86f2d8654bd948e1" /><Relationship Type="http://schemas.openxmlformats.org/officeDocument/2006/relationships/slide" Target="/ppt/slides/slide2.xml" Id="R0adc04a2ed9143bc" /><Relationship Type="http://schemas.openxmlformats.org/officeDocument/2006/relationships/slide" Target="/ppt/slides/slide3.xml" Id="Re01c28b462d54048" /><Relationship Type="http://schemas.openxmlformats.org/officeDocument/2006/relationships/slide" Target="/ppt/slides/slide4.xml" Id="R1c98944fdc924bad" /><Relationship Type="http://schemas.openxmlformats.org/officeDocument/2006/relationships/slide" Target="/ppt/slides/slide5.xml" Id="R70c3879a66f14d69" /><Relationship Type="http://schemas.openxmlformats.org/officeDocument/2006/relationships/slide" Target="/ppt/slides/slide6.xml" Id="R0689c56aed35405f" /><Relationship Type="http://schemas.openxmlformats.org/officeDocument/2006/relationships/slide" Target="/ppt/slides/slide7.xml" Id="Rfbefc755d4b24662" /><Relationship Type="http://schemas.openxmlformats.org/officeDocument/2006/relationships/slide" Target="/ppt/slides/slide8.xml" Id="Rbf9ef1eb35494253" /><Relationship Type="http://schemas.openxmlformats.org/officeDocument/2006/relationships/slide" Target="/ppt/slides/slide9.xml" Id="R16ce710c6c994b36" /><Relationship Type="http://schemas.openxmlformats.org/officeDocument/2006/relationships/slide" Target="/ppt/slides/slide10.xml" Id="Re14dd958be40403b" /><Relationship Type="http://schemas.openxmlformats.org/officeDocument/2006/relationships/slide" Target="/ppt/slides/slide11.xml" Id="R833c3074f4f8478b" /><Relationship Type="http://schemas.openxmlformats.org/officeDocument/2006/relationships/slide" Target="/ppt/slides/slide12.xml" Id="R2f7a756dc03b4e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d25a45d21e4c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dc401203ac425e" /><Relationship Type="http://schemas.openxmlformats.org/officeDocument/2006/relationships/notesMaster" Target="/ppt/notesMasters/notesMaster1.xml" Id="R3c99e1b865724d5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28d220b384d4e61" /><Relationship Type="http://schemas.openxmlformats.org/officeDocument/2006/relationships/notesMaster" Target="/ppt/notesMasters/notesMaster1.xml" Id="R1d874147712b43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d405277a5c4b30" /><Relationship Type="http://schemas.openxmlformats.org/officeDocument/2006/relationships/notesMaster" Target="/ppt/notesMasters/notesMaster1.xml" Id="R6549679dc21048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dcd49b46be479d" /><Relationship Type="http://schemas.openxmlformats.org/officeDocument/2006/relationships/notesMaster" Target="/ppt/notesMasters/notesMaster1.xml" Id="R47996574ac4e4b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8633efa1114906" /><Relationship Type="http://schemas.openxmlformats.org/officeDocument/2006/relationships/notesMaster" Target="/ppt/notesMasters/notesMaster1.xml" Id="R051bf713612247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db1ea25dac540c8" /><Relationship Type="http://schemas.openxmlformats.org/officeDocument/2006/relationships/notesMaster" Target="/ppt/notesMasters/notesMaster1.xml" Id="Rfd99be6a3fd84d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5dd42923b044f1f" /><Relationship Type="http://schemas.openxmlformats.org/officeDocument/2006/relationships/notesMaster" Target="/ppt/notesMasters/notesMaster1.xml" Id="R1e26753f5a4e484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f68fdd6cd744dcb" /><Relationship Type="http://schemas.openxmlformats.org/officeDocument/2006/relationships/notesMaster" Target="/ppt/notesMasters/notesMaster1.xml" Id="R32c200ec08b94d3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efbede408304820" /><Relationship Type="http://schemas.openxmlformats.org/officeDocument/2006/relationships/notesMaster" Target="/ppt/notesMasters/notesMaster1.xml" Id="R936b43115fa742b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373d5ab4ef4aa2" /><Relationship Type="http://schemas.openxmlformats.org/officeDocument/2006/relationships/notesMaster" Target="/ppt/notesMasters/notesMaster1.xml" Id="Rd48fb1b3e6044a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14e1599325248d2" /><Relationship Type="http://schemas.openxmlformats.org/officeDocument/2006/relationships/notesMaster" Target="/ppt/notesMasters/notesMaster1.xml" Id="R867c01780fe14f4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01269af9879473f" /><Relationship Type="http://schemas.openxmlformats.org/officeDocument/2006/relationships/notesMaster" Target="/ppt/notesMasters/notesMaster1.xml" Id="Rc9b23a2d47a640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eval-20261010T215531Z, 10 October 2026. B1/B2/run.json, metrics.json, assets.json. PX4-estimate-based passes only. This is R4R, unrelated to R2R.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eval-20261010T215531Z, 10 October 2026. Installed SDK files and line references in docs/rflysim/installed-execution.md. UDP20100/20101 control, TCP4560 SITL, UDP30101 truth, CameraData20006, RflySim3DImg_0 shared memory.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eval-20261010T215531Z, 10 October 2026. renderer2.log lines153-159,188,661,667,980. UE4PrereqSetup_x64.exe1.0.14.0 signed Epic. ISO23151480832bytes, sha ed5f41add2e97469c900f4ccff87f615eae4e7cfbedcc7d99211afd4d5dc7973. First system32 launch exit3 Array.h703 assertion cause unresolved.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eval-20261010T215531Z, 10 October 2026. B1/B2 metrics, raw flight/cleanup JSONL. 75s flight +15s cleanup,12s/leg,0.5s freshness. Offline41samples/2s dwell corroboration each leg, all under0.25m. Same route after owned WSL1 reset.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eval-20261010T215531Z, 10 October 2026. B1/B2 metrics.json. Ticks &gt;10ms56/280 and116/292. PNG writes/GPU sampling were outside control. Receiver clocks and Windows timer quantization affect recorded cadence. Cleanup worker exit−15 with returned evaluation; likely queue reuse/finalizer issue unconfirmed. Authored freshqueue/exitstatus fix local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eval-20261010T215531Z, 10 October 2026. trace-example.json explicitly uses receiver-nearest illustration with null actual_camera_pose_at_acquisition and uncertainty. B2 capture auxiliary exit -15 on control completion, no full75s capture claim. Raw camera1734 packets, bodytruth1850.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eval-20261010T215531Z, 10 October 2026. capture-local-correction.patch. Official https://rflysim.com/doc/en/4.DevRef/vis-cfg.html rows420-423 checked2026-10-10. camera-angle-diagnostics.json. A1 strict26s retest observed but raw not exported. FOV axis/extrinsics/known geometry/acquisition clock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eval-20261010T215531Z, 10 October 2026. rate metrics.json and rawcamera.jsonl. All1237main PNGs passed open checks. Receipt logs follow PNG encoding, not acquisition. Camera-clock-diagnostics.json: firstA2frame257.636,nearbyCameraData425.638,nextimage426.759. Hypothesis old buffer, not confirmed. Provider stream60FPS not sensor 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eval-20261010T215531Z, 10 October 2026. GPU CSV100samples requested1Hz, full100s windows. No warmup/synchronizedGPU benchmark. ISO23.15GB, installed expanded footprint unexported. Compute display$1.95/hour, storage/taxes/fullcharges unresolved. CPU resource samples lack per-sample timestamps. resource-coverage.json:100samples/~104s, average~1.05s. UTC−04 alignment inferred, full timezone export missing. B1wholeflight covered; B2 apparent21.65s overlap of38.60s recorded flight.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eval-20261010T215531Z, 10 October 2026. docs/rflysim/installed-execution.md and interfaces.md. https://rflysim.com/doc/en/4.DevRef/3d-import.html; https://rflysim.com/doc/en/4.DevRef/vis-cfg.html#version-restriction-overview. VisionCaptureApi sendImgBuffer3308 is forwarding, not proven injection. Closed UE/core boundary. No external renderer implemented.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eval-20261010T215531Z, 10 October 2026. Common evidence dimensions docs/r4r-audit-context.md. NoAirLab dataset/calibration/reconstruction/split/heldoutH/V/downstreammodel/approvedthresholds. Sparseimagecoverage and sparsephysicalcontent differ. NoPSNR/SSIM/LPIPS orrealtransfer. Native worlds/hardware/controllers unmatched, no simulator performance ranking.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eval-20261010T215531Z, 10 October 2026. checkpoint-preservation.json, checkpoint3-preservation.json. ZIP3 651522799bytes sha d601dc38134b20d1287b0d14e991abb3120b9212795eca4517959cde548fb6d2.1360manifestfiles pass. HostunexpectedStopping23:36UTC/Off23:44causeunknown. Priorledgerspreserved. NoMacsimulatorinstall. Presentation editabletext/objects; scientific plots are reproducible PNGs with source JSON/Python. Not tested in native PowerPoint.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c78cc82ceb4d7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8b5fe0c8764b0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79372b3b344a2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0a41c9879f47b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0283bca0c849c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9ef26d886a4a9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24451E-4CD6-419D-BEB0-06AB829472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552D638-514B-4102-9D28-8DBB2E039EA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831739F-D5B3-4AC4-B041-01A6C9298D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B336C34-5DAB-45E1-B1CF-26441BA57F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59FFC81-24AD-4959-BA49-372EC66D23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AF57374-69CA-48B2-A75C-F5467FA880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6604B69-F295-4B59-9F09-CD1A776884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F3D950A-99C9-4BF5-B0CE-4765290B192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719B5ED-CC53-469F-93C3-1E4719BE32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C0F44BD-F4DC-4132-B89E-75F72771F7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d70647a23049e8" /><Relationship Type="http://schemas.openxmlformats.org/officeDocument/2006/relationships/slideLayout" Target="/ppt/slideLayouts/slideLayout1.xml" Id="Rd07e4aca955344b0" /><Relationship Type="http://schemas.openxmlformats.org/officeDocument/2006/relationships/slideLayout" Target="/ppt/slideLayouts/slideLayout2.xml" Id="R054d8d04868c44ce" /><Relationship Type="http://schemas.openxmlformats.org/officeDocument/2006/relationships/slideLayout" Target="/ppt/slideLayouts/slideLayout3.xml" Id="R26f4437552d04098" /><Relationship Type="http://schemas.openxmlformats.org/officeDocument/2006/relationships/slideLayout" Target="/ppt/slideLayouts/slideLayout4.xml" Id="Rdde97c87be4848f1" /><Relationship Type="http://schemas.openxmlformats.org/officeDocument/2006/relationships/slideLayout" Target="/ppt/slideLayouts/slideLayout5.xml" Id="Rfc620ab69907407b" /><Relationship Type="http://schemas.openxmlformats.org/officeDocument/2006/relationships/slideLayout" Target="/ppt/slideLayouts/slideLayout6.xml" Id="Re89abff9ba9545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7e4aca955344b0"/>
    <p:sldLayoutId xmlns:r="http://schemas.openxmlformats.org/officeDocument/2006/relationships" id="2147483650" r:id="R054d8d04868c44ce"/>
    <p:sldLayoutId xmlns:r="http://schemas.openxmlformats.org/officeDocument/2006/relationships" id="2147483651" r:id="R26f4437552d04098"/>
    <p:sldLayoutId xmlns:r="http://schemas.openxmlformats.org/officeDocument/2006/relationships" id="2147483652" r:id="Rdde97c87be4848f1"/>
    <p:sldLayoutId xmlns:r="http://schemas.openxmlformats.org/officeDocument/2006/relationships" id="2147483653" r:id="Rfc620ab69907407b"/>
    <p:sldLayoutId xmlns:r="http://schemas.openxmlformats.org/officeDocument/2006/relationships" id="2147483654" r:id="Re89abff9ba9545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fbceb9bde440db" /><Relationship Type="http://schemas.openxmlformats.org/officeDocument/2006/relationships/image" Target="/ppt/media/image.png" Id="Rc3dede5a332f4e81" /><Relationship Type="http://schemas.openxmlformats.org/officeDocument/2006/relationships/notesSlide" Target="/ppt/notesSlides/notesSlide1.xml" Id="R79dfb9576deb42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5aa1b3454745bf" /><Relationship Type="http://schemas.openxmlformats.org/officeDocument/2006/relationships/notesSlide" Target="/ppt/notesSlides/notesSlide2.xml" Id="R5ec33cbef26842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82e1a781c248e4" /><Relationship Type="http://schemas.openxmlformats.org/officeDocument/2006/relationships/notesSlide" Target="/ppt/notesSlides/notesSlide3.xml" Id="R35bc59059a5a46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d04f79cba74807" /><Relationship Type="http://schemas.openxmlformats.org/officeDocument/2006/relationships/image" Target="/ppt/media/image2.png" Id="Rb3273663dc5c4ab9" /><Relationship Type="http://schemas.openxmlformats.org/officeDocument/2006/relationships/notesSlide" Target="/ppt/notesSlides/notesSlide4.xml" Id="R0a574371cb3041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7fe9d9a6c64c54" /><Relationship Type="http://schemas.openxmlformats.org/officeDocument/2006/relationships/image" Target="/ppt/media/image3.png" Id="Rc5e1e838cc894358" /><Relationship Type="http://schemas.openxmlformats.org/officeDocument/2006/relationships/notesSlide" Target="/ppt/notesSlides/notesSlide5.xml" Id="R4c42e044bb1e46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4165f124f242dc" /><Relationship Type="http://schemas.openxmlformats.org/officeDocument/2006/relationships/image" Target="/ppt/media/image4.png" Id="R0d7bd4685cea40e8" /><Relationship Type="http://schemas.openxmlformats.org/officeDocument/2006/relationships/notesSlide" Target="/ppt/notesSlides/notesSlide6.xml" Id="R9cb0172e17f744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e94c0c66154d21" /><Relationship Type="http://schemas.openxmlformats.org/officeDocument/2006/relationships/image" Target="/ppt/media/image5.png" Id="Ra19ca00809c84d63" /><Relationship Type="http://schemas.openxmlformats.org/officeDocument/2006/relationships/notesSlide" Target="/ppt/notesSlides/notesSlide7.xml" Id="Ra89521a1183d4b4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eadce68d76410b" /><Relationship Type="http://schemas.openxmlformats.org/officeDocument/2006/relationships/image" Target="/ppt/media/image6.png" Id="Rb68a96f121144338" /><Relationship Type="http://schemas.openxmlformats.org/officeDocument/2006/relationships/notesSlide" Target="/ppt/notesSlides/notesSlide8.xml" Id="R590b72c22cf745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6dd7c128fa4fc8" /><Relationship Type="http://schemas.openxmlformats.org/officeDocument/2006/relationships/image" Target="/ppt/media/image7.png" Id="R5453a6845cee4dd7" /><Relationship Type="http://schemas.openxmlformats.org/officeDocument/2006/relationships/notesSlide" Target="/ppt/notesSlides/notesSlide9.xml" Id="Rc270fa4811ca43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759233c25f446d" /><Relationship Type="http://schemas.openxmlformats.org/officeDocument/2006/relationships/notesSlide" Target="/ppt/notesSlides/notesSlide10.xml" Id="Rcdf4558f6a4c4c2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4449d0be7c4d93" /><Relationship Type="http://schemas.openxmlformats.org/officeDocument/2006/relationships/notesSlide" Target="/ppt/notesSlides/notesSlide11.xml" Id="Re575ffde6d4149e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41b3bc5de7472b" /><Relationship Type="http://schemas.openxmlformats.org/officeDocument/2006/relationships/notesSlide" Target="/ppt/notesSlides/notesSlide12.xml" Id="R10c70cf0c61647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CA9B6F-E4BA-463B-92A3-9B9C34D5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5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5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02D3B"/>
                </a:solidFill>
                <a:latin typeface="Arial"/>
                <a:ea typeface="Arial"/>
                <a:cs typeface="Arial"/>
              </a:rPr>
              <a:t>RflySim for Real4Real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15E1A3-3D78-4336-957A-8A35804058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dede5a332f4e81"/>
          <a:stretch xmlns:a="http://schemas.openxmlformats.org/drawingml/2006/main"/>
        </p:blipFill>
        <p:spPr>
          <a:xfrm xmlns:a="http://schemas.openxmlformats.org/drawingml/2006/main">
            <a:off x="5810250" y="1674019"/>
            <a:ext cx="5695950" cy="427196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BABFC7-4859-4179-9E64-B80667F5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4667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D3B"/>
                </a:solidFill>
                <a:latin typeface="Arial"/>
                <a:ea typeface="Arial"/>
                <a:cs typeface="Arial"/>
              </a:rPr>
              <a:t>Two stock PX4 routes completed with confirmed landing and disarming.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F436BD-E221-466B-A101-21B0A854A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667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Native RGB capture worked at 640 × 480 and about 10 Hz.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7FCB20-7CE7-4E22-9615-5B7CB35C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4667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Reuse control integration and a stock visual baseline. Defer calibrated reconstruction rendering.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A12653-F607-416B-9239-23DD7A04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6C75"/>
                </a:solidFill>
                <a:latin typeface="Arial"/>
                <a:ea typeface="Arial"/>
                <a:cs typeface="Arial"/>
              </a:rPr>
              <a:t>Measured stock integration. Calibration and real-scene fidelity remain incomplete.   1 / 12</a:t>
            </a:r>
          </a:p>
        </p:txBody>
      </p:sp>
    </p:spTree>
    <p:extLst>
      <p:ext uri="{BB962C8B-B14F-4D97-AF65-F5344CB8AC3E}">
        <p14:creationId xmlns:p14="http://schemas.microsoft.com/office/powerpoint/2010/main" val="9406062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5CC023-A97D-4008-84DB-BA66BEE8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D3B"/>
                </a:solidFill>
                <a:latin typeface="Arial"/>
                <a:ea typeface="Arial"/>
                <a:cs typeface="Arial"/>
              </a:rPr>
              <a:t>Inputs and component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217BE7-E786-48E3-B7EE-251E14B0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D3B"/>
                </a:solidFill>
                <a:latin typeface="Arial"/>
                <a:ea typeface="Arial"/>
                <a:cs typeface="Arial"/>
              </a:rPr>
              <a:t>Input: Free v5.01 ISO, stock Grasslands, Iris model 0, frozen NED route. No policy weights or real reconstruction.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2AEB12-AF79-41BC-BC9D-98702330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Python sends setpoints to PX4. CopterSim advances dynamics. PX4 returns estimates and mode/arm ACKs.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1AD2CC-1799-4BF0-99BE-0486845F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UE4 renders the camera. A separate receiver saves images and raw camera/body metadata. Calibrated association is still missing.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865318-7880-469D-88E6-579DF0C6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6C75"/>
                </a:solidFill>
                <a:latin typeface="Arial"/>
                <a:ea typeface="Arial"/>
                <a:cs typeface="Arial"/>
              </a:rPr>
              <a:t>Measured stock integration. Calibration and real-scene fidelity remain incomplete.   2 / 12</a:t>
            </a:r>
          </a:p>
        </p:txBody>
      </p:sp>
    </p:spTree>
    <p:extLst>
      <p:ext uri="{BB962C8B-B14F-4D97-AF65-F5344CB8AC3E}">
        <p14:creationId xmlns:p14="http://schemas.microsoft.com/office/powerpoint/2010/main" val="17104928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82A3B2-8094-495A-8FB1-B58CD5907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D3B"/>
                </a:solidFill>
                <a:latin typeface="Arial"/>
                <a:ea typeface="Arial"/>
                <a:cs typeface="Arial"/>
              </a:rPr>
              <a:t>Installation and graphics now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DC04FB-68F1-4B53-BCBE-E182D850A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D3B"/>
                </a:solidFill>
                <a:latin typeface="Arial"/>
                <a:ea typeface="Arial"/>
                <a:cs typeface="Arial"/>
              </a:rPr>
              <a:t>The bundled Epic prerequisite installer completed with exit 0. Correct renderer working directory resolved startup in the retest.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1F9FDF-0A0F-4CF2-A00D-4FAC924A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RflySim3D selected NVIDIA L4 through D3D11. UE4 4.27.2 loaded Grasslands.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DD63BC-5837-425E-B7DA-56274FEC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Server 2025 and WSL1 worked on this host. Vendor documentation names Windows 10/11. Stock execution needed no licensed MATLAB.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873AD2-3EB3-4576-B1CB-277C1A37B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6C75"/>
                </a:solidFill>
                <a:latin typeface="Arial"/>
                <a:ea typeface="Arial"/>
                <a:cs typeface="Arial"/>
              </a:rPr>
              <a:t>Measured stock integration. Calibration and real-scene fidelity remain incomplete.   3 / 12</a:t>
            </a:r>
          </a:p>
        </p:txBody>
      </p:sp>
    </p:spTree>
    <p:extLst>
      <p:ext uri="{BB962C8B-B14F-4D97-AF65-F5344CB8AC3E}">
        <p14:creationId xmlns:p14="http://schemas.microsoft.com/office/powerpoint/2010/main" val="15580508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C7E52D-81BB-4CEC-AD95-C933C1D4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D3B"/>
                </a:solidFill>
                <a:latin typeface="Arial"/>
                <a:ea typeface="Arial"/>
                <a:cs typeface="Arial"/>
              </a:rPr>
              <a:t>Both flights completed the route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876755-2587-438D-A201-E49A3BCCBF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273663dc5c4ab9"/>
          <a:stretch xmlns:a="http://schemas.openxmlformats.org/drawingml/2006/main"/>
        </p:blipFill>
        <p:spPr>
          <a:xfrm xmlns:a="http://schemas.openxmlformats.org/drawingml/2006/main">
            <a:off x="1643063" y="1381125"/>
            <a:ext cx="8905875" cy="3238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95A653-3A8E-4344-AF47-DF6F7EAF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D3B"/>
                </a:solidFill>
                <a:latin typeface="Arial"/>
                <a:ea typeface="Arial"/>
                <a:cs typeface="Arial"/>
              </a:rPr>
              <a:t>Both full-route passes used fresh PX4 estimates. B1: 38.750 s. B2 with capture: 39.219 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18131A-5C03-473C-8D28-821AD6A4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Route in NED metres: (0,0,-2), (2,0,-2), (2,2,-2), (0,0,-2), land. Each waypoint required ≤0.25 m for 2 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208016-3B55-4A12-ACE8-67B15783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The pass uses fresh PX4 estimates. Independently calibrated truth outcome remains blocked.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51E345-177F-415A-BEB6-3F4A2438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6C75"/>
                </a:solidFill>
                <a:latin typeface="Arial"/>
                <a:ea typeface="Arial"/>
                <a:cs typeface="Arial"/>
              </a:rPr>
              <a:t>Measured stock integration. Calibration and real-scene fidelity remain incomplete.   4 / 12</a:t>
            </a:r>
          </a:p>
        </p:txBody>
      </p:sp>
    </p:spTree>
    <p:extLst>
      <p:ext uri="{BB962C8B-B14F-4D97-AF65-F5344CB8AC3E}">
        <p14:creationId xmlns:p14="http://schemas.microsoft.com/office/powerpoint/2010/main" val="11321400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67CF92-2BCF-425D-934C-E5E0D42A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D3B"/>
                </a:solidFill>
                <a:latin typeface="Arial"/>
                <a:ea typeface="Arial"/>
                <a:cs typeface="Arial"/>
              </a:rPr>
              <a:t>Capture comparison stays limited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25DD2A-BDF8-44CE-9662-E1FC2E9B87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e1e838cc894358"/>
          <a:stretch xmlns:a="http://schemas.openxmlformats.org/drawingml/2006/main"/>
        </p:blipFill>
        <p:spPr>
          <a:xfrm xmlns:a="http://schemas.openxmlformats.org/drawingml/2006/main">
            <a:off x="2857500" y="1381125"/>
            <a:ext cx="6477000" cy="3238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426688-C4BC-47B8-8FB1-78BB4892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D3B"/>
                </a:solidFill>
                <a:latin typeface="Arial"/>
                <a:ea typeface="Arial"/>
                <a:cs typeface="Arial"/>
              </a:rPr>
              <a:t>Mean setpoint interval: 100.022 ms without capture, 100.034 ms with capture.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54BF65-9883-40B0-B81B-453EA52D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Maximum tick lateness: 12 ms versus 16 ms. Neither run had a tick more than 100 ms late. State gaps peaked at 125 ms and 110 ms.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940660-BE5C-4BE5-A4A8-0AFB07D2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Cleanup workers hit 15 s despite confirmation summaries. Raw cleanup logs are empty. Queue repair needs retesting.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2BD44D-3A4E-42CB-A49E-AE41F237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6C75"/>
                </a:solidFill>
                <a:latin typeface="Arial"/>
                <a:ea typeface="Arial"/>
                <a:cs typeface="Arial"/>
              </a:rPr>
              <a:t>Two sequential runs do not isolate capture overhead. Cleanup logging is incomplete.   5 / 12</a:t>
            </a:r>
          </a:p>
        </p:txBody>
      </p:sp>
    </p:spTree>
    <p:extLst>
      <p:ext uri="{BB962C8B-B14F-4D97-AF65-F5344CB8AC3E}">
        <p14:creationId xmlns:p14="http://schemas.microsoft.com/office/powerpoint/2010/main" val="8400428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8EC07E-B90D-4DF9-BCC6-CA582166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D3B"/>
                </a:solidFill>
                <a:latin typeface="Arial"/>
                <a:ea typeface="Arial"/>
                <a:cs typeface="Arial"/>
              </a:rPr>
              <a:t>Flight and observations share a run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005313-08F0-49A6-A9ED-90DE38028D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7bd4685cea40e8"/>
          <a:stretch xmlns:a="http://schemas.openxmlformats.org/drawingml/2006/main"/>
        </p:blipFill>
        <p:spPr>
          <a:xfrm xmlns:a="http://schemas.openxmlformats.org/drawingml/2006/main">
            <a:off x="5810250" y="1674019"/>
            <a:ext cx="5695950" cy="427196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F82894-3FAD-4369-9E57-C66EDA57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4667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D3B"/>
                </a:solidFill>
                <a:latin typeface="Arial"/>
                <a:ea typeface="Arial"/>
                <a:cs typeface="Arial"/>
              </a:rPr>
              <a:t>B2 saved 365 mounted-camera RGB frames while the vehicle completed the route.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F99B42-9169-45F5-9B59-94F267A0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667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Trace records include setpoints, ACKs, mode/armed state, estimates, body truth, camera metadata and frame IDs.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6DAB5-7489-4156-AC88-B0DA793B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4667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Acquisition-time camera pose remains unknown. RGB recording did not drive the waypoint controller.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177CDC-4BDE-4866-9BAD-023BA3C3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6C75"/>
                </a:solidFill>
                <a:latin typeface="Arial"/>
                <a:ea typeface="Arial"/>
                <a:cs typeface="Arial"/>
              </a:rPr>
              <a:t>Measured stock integration. Calibration and real-scene fidelity remain incomplete.   6 / 12</a:t>
            </a:r>
          </a:p>
        </p:txBody>
      </p:sp>
    </p:spTree>
    <p:extLst>
      <p:ext uri="{BB962C8B-B14F-4D97-AF65-F5344CB8AC3E}">
        <p14:creationId xmlns:p14="http://schemas.microsoft.com/office/powerpoint/2010/main" val="13098737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8B5601-4EBF-46F0-A68B-A772D8E1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D3B"/>
                </a:solidFill>
                <a:latin typeface="Arial"/>
                <a:ea typeface="Arial"/>
                <a:cs typeface="Arial"/>
              </a:rPr>
              <a:t>Camera geometry exposed our defect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9E947D-ADB3-44E9-A235-F409CEE766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9ca00809c84d63"/>
          <a:stretch xmlns:a="http://schemas.openxmlformats.org/drawingml/2006/main"/>
        </p:blipFill>
        <p:spPr>
          <a:xfrm xmlns:a="http://schemas.openxmlformats.org/drawingml/2006/main">
            <a:off x="5810250" y="1674019"/>
            <a:ext cx="5695950" cy="427196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98B8DB-B54E-4889-A9CD-EB8F09AC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4667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D3B"/>
                </a:solidFill>
                <a:latin typeface="Arial"/>
                <a:ea typeface="Arial"/>
                <a:cs typeface="Arial"/>
              </a:rPr>
              <a:t>A1 and A2 saved 260 and 261 frames. A1 captured 25.797 seconds, short of the requested 26.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74CA49-A21B-46FC-AA10-5FFA588E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667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Our adapter converted degrees to radians for a degree field. The intended 15° yaw and 10° pitch were not executed.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B604CA-579E-48F4-B30E-DA385D2D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4667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Local duration and degree fixes passed helper tests. They need a simulator retest. Pose repeatability and projection checks remain blocked.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AB5910-46E8-4AE9-BA3E-03C647D8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6C75"/>
                </a:solidFill>
                <a:latin typeface="Arial"/>
                <a:ea typeface="Arial"/>
                <a:cs typeface="Arial"/>
              </a:rPr>
              <a:t>Measured stock integration. Calibration and real-scene fidelity remain incomplete.   7 / 12</a:t>
            </a:r>
          </a:p>
        </p:txBody>
      </p:sp>
    </p:spTree>
    <p:extLst>
      <p:ext uri="{BB962C8B-B14F-4D97-AF65-F5344CB8AC3E}">
        <p14:creationId xmlns:p14="http://schemas.microsoft.com/office/powerpoint/2010/main" val="13763111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C446D2-C432-414B-8C93-13007C51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D3B"/>
                </a:solidFill>
                <a:latin typeface="Arial"/>
                <a:ea typeface="Arial"/>
                <a:cs typeface="Arial"/>
              </a:rPr>
              <a:t>Native capture meets the rate request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06E90D-EF86-4D8F-AF8F-6E3B1739E5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8a96f121144338"/>
          <a:stretch xmlns:a="http://schemas.openxmlformats.org/drawingml/2006/main"/>
        </p:blipFill>
        <p:spPr>
          <a:xfrm xmlns:a="http://schemas.openxmlformats.org/drawingml/2006/main">
            <a:off x="1238250" y="1381125"/>
            <a:ext cx="9715500" cy="3238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526ED-03D7-4232-B7FC-E62FA3B2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D3B"/>
                </a:solidFill>
                <a:latin typeface="Arial"/>
                <a:ea typeface="Arial"/>
                <a:cs typeface="Arial"/>
              </a:rPr>
              <a:t>The 35 s test included 5 s warmup and 300 post-warmup frames. Delivered record rate was 10.013 Hz.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E71055-C267-4F83-BACE-8D4810CD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No duplicate native timestamps or post-warmup receipt gaps above 150 ms occurred in the saved rate sequence.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2DEDA5-8087-49F1-94A1-D452E213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A2 first image had an old-looking clock value before a large jump. Clock ownership and acquisition latency remain unresolved.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E556F6-0A3B-473E-9600-38799190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6C75"/>
                </a:solidFill>
                <a:latin typeface="Arial"/>
                <a:ea typeface="Arial"/>
                <a:cs typeface="Arial"/>
              </a:rPr>
              <a:t>Measured stock integration. Calibration and real-scene fidelity remain incomplete.   8 / 12</a:t>
            </a:r>
          </a:p>
        </p:txBody>
      </p:sp>
    </p:spTree>
    <p:extLst>
      <p:ext uri="{BB962C8B-B14F-4D97-AF65-F5344CB8AC3E}">
        <p14:creationId xmlns:p14="http://schemas.microsoft.com/office/powerpoint/2010/main" val="926431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D4832A-0A90-43D6-A300-C4A35742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D3B"/>
                </a:solidFill>
                <a:latin typeface="Arial"/>
                <a:ea typeface="Arial"/>
                <a:cs typeface="Arial"/>
              </a:rPr>
              <a:t>Resource measurements fit this workload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C2B62F-75E5-4D66-91AE-30D72CC248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53a6845cee4dd7"/>
          <a:stretch xmlns:a="http://schemas.openxmlformats.org/drawingml/2006/main"/>
        </p:blipFill>
        <p:spPr>
          <a:xfrm xmlns:a="http://schemas.openxmlformats.org/drawingml/2006/main">
            <a:off x="698500" y="1381125"/>
            <a:ext cx="10795000" cy="3238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33AB91-A90F-40A4-8DEB-1525A63A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D3B"/>
                </a:solidFill>
                <a:latin typeface="Arial"/>
                <a:ea typeface="Arial"/>
                <a:cs typeface="Arial"/>
              </a:rPr>
              <a:t>Peak GPU allocation in the sample windows: 1,761 MiB and 1,758 MiB. Mean utilization: 16.93% and 17.47%.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D5676B-34C1-4282-803F-74ABE496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The host had 8 logical CPUs, 32 GB RAM and a 400 GB SSD. Driver 596.86, reported L4 memory 23,034 MiB.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C06772-D392-43BE-BEB0-BDC36718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Polling includes preflight, Moonlight and desktop. B2 sampling ended mid-flight. Minimum VRAM and renderer-only throughput remain unmeasured.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1A7B2E-C251-4AE4-AB57-2982DE98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6C75"/>
                </a:solidFill>
                <a:latin typeface="Arial"/>
                <a:ea typeface="Arial"/>
                <a:cs typeface="Arial"/>
              </a:rPr>
              <a:t>Measured stock integration. Calibration and real-scene fidelity remain incomplete.   9 / 12</a:t>
            </a:r>
          </a:p>
        </p:txBody>
      </p:sp>
    </p:spTree>
    <p:extLst>
      <p:ext uri="{BB962C8B-B14F-4D97-AF65-F5344CB8AC3E}">
        <p14:creationId xmlns:p14="http://schemas.microsoft.com/office/powerpoint/2010/main" val="15800064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B159E0-937F-40E1-BBBC-41F78047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D3B"/>
                </a:solidFill>
                <a:latin typeface="Arial"/>
                <a:ea typeface="Arial"/>
                <a:cs typeface="Arial"/>
              </a:rPr>
              <a:t>Reconstruction and Gaussian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34956B-858A-4A63-AC96-20F334A8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D3B"/>
                </a:solidFill>
                <a:latin typeface="Arial"/>
                <a:ea typeface="Arial"/>
                <a:cs typeface="Arial"/>
              </a:rPr>
              <a:t>Real photos plus calibrated poses: no verified direct reconstruction loader. Cooked UE mesh/XML import is documented, with Free eligibility unresolved.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77812D-90D8-4CD9-ABE5-E5AD7808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External trajectory replay: a conditional small adapter after camera calibration, with an existing Gaussian scene and renderer.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7F11BB-063C-4D46-A99E-22DF2646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Native RGB replacement or a visual closed loop: unresolved supported contract and substantial integration. Collision/depth and clock ownership need separate services.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69C5E3-BB31-4F38-8F65-A95F4F23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6C75"/>
                </a:solidFill>
                <a:latin typeface="Arial"/>
                <a:ea typeface="Arial"/>
                <a:cs typeface="Arial"/>
              </a:rPr>
              <a:t>Measured stock integration. Calibration and real-scene fidelity remain incomplete.   10 / 12</a:t>
            </a:r>
          </a:p>
        </p:txBody>
      </p:sp>
    </p:spTree>
    <p:extLst>
      <p:ext uri="{BB962C8B-B14F-4D97-AF65-F5344CB8AC3E}">
        <p14:creationId xmlns:p14="http://schemas.microsoft.com/office/powerpoint/2010/main" val="14899952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6A09F5-3F1E-46CD-A6F5-4C3C4340E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D3B"/>
                </a:solidFill>
                <a:latin typeface="Arial"/>
                <a:ea typeface="Arial"/>
                <a:cs typeface="Arial"/>
              </a:rPr>
              <a:t>Scoped R4R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14F90B-9EC3-4F8F-92FC-54683A35E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D3B"/>
                </a:solidFill>
                <a:latin typeface="Arial"/>
                <a:ea typeface="Arial"/>
                <a:cs typeface="Arial"/>
              </a:rPr>
              <a:t>Reuse as a dynamics/control host and keep a native RGB baseline for integration experiments.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4DF56E-E691-4B7F-A21D-8ABC7947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Defer calibrated replay and R4R reconstruction rendering until corrected rotations, projection/extrinsics and acquisition timing are verified.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D940D2-E85C-4EEE-937D-21170FA9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Indoor navigation, residential/campus views below 100 m, sparse capture and racing remain research questions. C is blocked by missing compatible released weights and task adapter.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74707D-9ACF-49F4-A840-46DA0957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6C75"/>
                </a:solidFill>
                <a:latin typeface="Arial"/>
                <a:ea typeface="Arial"/>
                <a:cs typeface="Arial"/>
              </a:rPr>
              <a:t>Measured stock integration. Calibration and real-scene fidelity remain incomplete.   11 / 12</a:t>
            </a:r>
          </a:p>
        </p:txBody>
      </p:sp>
    </p:spTree>
    <p:extLst>
      <p:ext uri="{BB962C8B-B14F-4D97-AF65-F5344CB8AC3E}">
        <p14:creationId xmlns:p14="http://schemas.microsoft.com/office/powerpoint/2010/main" val="8158419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EE1949-BD34-4E94-9308-9888385D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D3B"/>
                </a:solidFill>
                <a:latin typeface="Arial"/>
                <a:ea typeface="Arial"/>
                <a:cs typeface="Arial"/>
              </a:rPr>
              <a:t>Preservation and the next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AEF816-3229-43B7-8AB4-72FC4650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02D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D3B"/>
                </a:solidFill>
                <a:latin typeface="Arial"/>
                <a:ea typeface="Arial"/>
                <a:cs typeface="Arial"/>
              </a:rPr>
              <a:t>Three ZIP checkpoints passed hashes and internal manifests on the Mac. Main telemetry, 1,237 frames, configs, executed sources and B1 native flight log are preserved.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F1F10-3A51-40BD-A34C-B155EA3B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AirGPU is verified Off. Final transcript, B2 native flight log and the strict A1 retest remain on its stopped disk.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D8A096-DF80-41B3-88CC-5BB133A01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34495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955"/>
                </a:solidFill>
                <a:latin typeface="Arial"/>
                <a:ea typeface="Arial"/>
                <a:cs typeface="Arial"/>
              </a:rPr>
              <a:t>Read Link/FlightEvaluation, camera handshake, SDK degree versus yaw-radian conventions, and the clock diagnostics. Next work is corrected calibrated A and missing-file recovery.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9AD05A-BAAD-476E-8468-363E9D3F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06C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6C75"/>
                </a:solidFill>
                <a:latin typeface="Arial"/>
                <a:ea typeface="Arial"/>
                <a:cs typeface="Arial"/>
              </a:rPr>
              <a:t>Measured stock integration. Calibration and real-scene fidelity remain incomplete.   12 / 12</a:t>
            </a:r>
          </a:p>
        </p:txBody>
      </p:sp>
    </p:spTree>
    <p:extLst>
      <p:ext uri="{BB962C8B-B14F-4D97-AF65-F5344CB8AC3E}">
        <p14:creationId xmlns:p14="http://schemas.microsoft.com/office/powerpoint/2010/main" val="5469592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2026-10-11T00:04:37.8930000Z</dcterms:created>
  <dcterms:modified xsi:type="dcterms:W3CDTF">2026-10-11T00:04:37.8930000Z</dcterms:modified>
</coreProperties>
</file>