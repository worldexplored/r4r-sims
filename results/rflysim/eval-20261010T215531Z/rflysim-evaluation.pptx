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b69ef102049d0" /><Relationship Type="http://schemas.openxmlformats.org/officeDocument/2006/relationships/extended-properties" Target="/docProps/app.xml" Id="Rabf7d415f86f4606" /><Relationship Type="http://schemas.openxmlformats.org/officeDocument/2006/relationships/officeDocument" Target="/ppt/presentation.xml" Id="Rbae6fd246c2e4c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1ad81d6e674c7b"/>
  </p:sldMasterIdLst>
  <p:notesMasterIdLst>
    <p:notesMasterId xmlns:r="http://schemas.openxmlformats.org/officeDocument/2006/relationships" r:id="R25a997e840ed45e0"/>
  </p:notesMasterIdLst>
  <p:sldIdLst>
    <p:sldId xmlns:r="http://schemas.openxmlformats.org/officeDocument/2006/relationships" id="256" r:id="Rfd0b5cb34ff44cd7"/>
    <p:sldId xmlns:r="http://schemas.openxmlformats.org/officeDocument/2006/relationships" id="257" r:id="R804ed562091645d7"/>
    <p:sldId xmlns:r="http://schemas.openxmlformats.org/officeDocument/2006/relationships" id="258" r:id="R9ef4b1aec466432a"/>
    <p:sldId xmlns:r="http://schemas.openxmlformats.org/officeDocument/2006/relationships" id="259" r:id="Ra40f763ba42640f9"/>
    <p:sldId xmlns:r="http://schemas.openxmlformats.org/officeDocument/2006/relationships" id="260" r:id="R66275c6eaf2c4b06"/>
    <p:sldId xmlns:r="http://schemas.openxmlformats.org/officeDocument/2006/relationships" id="261" r:id="R6ea60c9b1fd2424d"/>
    <p:sldId xmlns:r="http://schemas.openxmlformats.org/officeDocument/2006/relationships" id="262" r:id="R12a8a10a66294463"/>
    <p:sldId xmlns:r="http://schemas.openxmlformats.org/officeDocument/2006/relationships" id="263" r:id="R18dca14fa46a4d03"/>
    <p:sldId xmlns:r="http://schemas.openxmlformats.org/officeDocument/2006/relationships" id="264" r:id="R5586fbb44592402f"/>
    <p:sldId xmlns:r="http://schemas.openxmlformats.org/officeDocument/2006/relationships" id="265" r:id="R6445380d261347fa"/>
    <p:sldId xmlns:r="http://schemas.openxmlformats.org/officeDocument/2006/relationships" id="266" r:id="R3a52ff62e51d4e39"/>
    <p:sldId xmlns:r="http://schemas.openxmlformats.org/officeDocument/2006/relationships" id="267" r:id="R3df7f1764a4842c6"/>
    <p:sldId xmlns:r="http://schemas.openxmlformats.org/officeDocument/2006/relationships" id="268" r:id="R008d5bd9f8714f79"/>
    <p:sldId xmlns:r="http://schemas.openxmlformats.org/officeDocument/2006/relationships" id="269" r:id="Re29e694cb6824345"/>
    <p:sldId xmlns:r="http://schemas.openxmlformats.org/officeDocument/2006/relationships" id="270" r:id="Rb46f5061d3394601"/>
    <p:sldId xmlns:r="http://schemas.openxmlformats.org/officeDocument/2006/relationships" id="271" r:id="R20cd386d275149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845457714c4a35" /><Relationship Type="http://schemas.openxmlformats.org/officeDocument/2006/relationships/slideMaster" Target="/ppt/slideMasters/slideMaster1.xml" Id="R9d1ad81d6e674c7b" /><Relationship Type="http://schemas.openxmlformats.org/officeDocument/2006/relationships/notesMaster" Target="/ppt/notesMasters/notesMaster1.xml" Id="R25a997e840ed45e0" /><Relationship Type="http://schemas.openxmlformats.org/officeDocument/2006/relationships/presProps" Target="/ppt/presProps.xml" Id="Rcce343830ccc410c" /><Relationship Type="http://schemas.openxmlformats.org/officeDocument/2006/relationships/tableStyles" Target="/ppt/tableStyles.xml" Id="R1bd64aa51dd141eb" /><Relationship Type="http://schemas.openxmlformats.org/officeDocument/2006/relationships/slide" Target="/ppt/slides/slide1.xml" Id="Rfd0b5cb34ff44cd7" /><Relationship Type="http://schemas.openxmlformats.org/officeDocument/2006/relationships/slide" Target="/ppt/slides/slide2.xml" Id="R804ed562091645d7" /><Relationship Type="http://schemas.openxmlformats.org/officeDocument/2006/relationships/slide" Target="/ppt/slides/slide3.xml" Id="R9ef4b1aec466432a" /><Relationship Type="http://schemas.openxmlformats.org/officeDocument/2006/relationships/slide" Target="/ppt/slides/slide4.xml" Id="Ra40f763ba42640f9" /><Relationship Type="http://schemas.openxmlformats.org/officeDocument/2006/relationships/slide" Target="/ppt/slides/slide5.xml" Id="R66275c6eaf2c4b06" /><Relationship Type="http://schemas.openxmlformats.org/officeDocument/2006/relationships/slide" Target="/ppt/slides/slide6.xml" Id="R6ea60c9b1fd2424d" /><Relationship Type="http://schemas.openxmlformats.org/officeDocument/2006/relationships/slide" Target="/ppt/slides/slide7.xml" Id="R12a8a10a66294463" /><Relationship Type="http://schemas.openxmlformats.org/officeDocument/2006/relationships/slide" Target="/ppt/slides/slide8.xml" Id="R18dca14fa46a4d03" /><Relationship Type="http://schemas.openxmlformats.org/officeDocument/2006/relationships/slide" Target="/ppt/slides/slide9.xml" Id="R5586fbb44592402f" /><Relationship Type="http://schemas.openxmlformats.org/officeDocument/2006/relationships/slide" Target="/ppt/slides/slide10.xml" Id="R6445380d261347fa" /><Relationship Type="http://schemas.openxmlformats.org/officeDocument/2006/relationships/slide" Target="/ppt/slides/slide11.xml" Id="R3a52ff62e51d4e39" /><Relationship Type="http://schemas.openxmlformats.org/officeDocument/2006/relationships/slide" Target="/ppt/slides/slide12.xml" Id="R3df7f1764a4842c6" /><Relationship Type="http://schemas.openxmlformats.org/officeDocument/2006/relationships/slide" Target="/ppt/slides/slide13.xml" Id="R008d5bd9f8714f79" /><Relationship Type="http://schemas.openxmlformats.org/officeDocument/2006/relationships/slide" Target="/ppt/slides/slide14.xml" Id="Re29e694cb6824345" /><Relationship Type="http://schemas.openxmlformats.org/officeDocument/2006/relationships/slide" Target="/ppt/slides/slide15.xml" Id="Rb46f5061d3394601" /><Relationship Type="http://schemas.openxmlformats.org/officeDocument/2006/relationships/slide" Target="/ppt/slides/slide16.xml" Id="R20cd386d275149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317a4285c49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5f916f05934e6b" /><Relationship Type="http://schemas.openxmlformats.org/officeDocument/2006/relationships/notesMaster" Target="/ppt/notesMasters/notesMaster1.xml" Id="Reb0e5e1911af44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9e82df1f84493c" /><Relationship Type="http://schemas.openxmlformats.org/officeDocument/2006/relationships/notesMaster" Target="/ppt/notesMasters/notesMaster1.xml" Id="Rb12a3e04ba9048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85fc76c9484458" /><Relationship Type="http://schemas.openxmlformats.org/officeDocument/2006/relationships/notesMaster" Target="/ppt/notesMasters/notesMaster1.xml" Id="R6f2841b58f0f4b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552386eab426b" /><Relationship Type="http://schemas.openxmlformats.org/officeDocument/2006/relationships/notesMaster" Target="/ppt/notesMasters/notesMaster1.xml" Id="R9a4617975b5847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316ce9f1af4e0b" /><Relationship Type="http://schemas.openxmlformats.org/officeDocument/2006/relationships/notesMaster" Target="/ppt/notesMasters/notesMaster1.xml" Id="Rf2b06ba4732947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870e3b01bb4fc0" /><Relationship Type="http://schemas.openxmlformats.org/officeDocument/2006/relationships/notesMaster" Target="/ppt/notesMasters/notesMaster1.xml" Id="Rb1de08fd0f5d46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ef2cf4007e4609" /><Relationship Type="http://schemas.openxmlformats.org/officeDocument/2006/relationships/notesMaster" Target="/ppt/notesMasters/notesMaster1.xml" Id="R192b4eeaedc340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ea1b81a5ac40ab" /><Relationship Type="http://schemas.openxmlformats.org/officeDocument/2006/relationships/notesMaster" Target="/ppt/notesMasters/notesMaster1.xml" Id="R90c4dc3965f248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ec5ab026af4835" /><Relationship Type="http://schemas.openxmlformats.org/officeDocument/2006/relationships/notesMaster" Target="/ppt/notesMasters/notesMaster1.xml" Id="Rc94d6d37ccc442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5dd443341a4b6c" /><Relationship Type="http://schemas.openxmlformats.org/officeDocument/2006/relationships/notesMaster" Target="/ppt/notesMasters/notesMaster1.xml" Id="R2c36be95fbbd43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4581e805e24c9c" /><Relationship Type="http://schemas.openxmlformats.org/officeDocument/2006/relationships/notesMaster" Target="/ppt/notesMasters/notesMaster1.xml" Id="Raed2bb652bbf4f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cc027a3f3e42ae" /><Relationship Type="http://schemas.openxmlformats.org/officeDocument/2006/relationships/notesMaster" Target="/ppt/notesMasters/notesMaster1.xml" Id="R21ec4b3c2e8648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a2b6e79f5246e3" /><Relationship Type="http://schemas.openxmlformats.org/officeDocument/2006/relationships/notesMaster" Target="/ppt/notesMasters/notesMaster1.xml" Id="R07a2d924f2dc44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e16d049464423d" /><Relationship Type="http://schemas.openxmlformats.org/officeDocument/2006/relationships/notesMaster" Target="/ppt/notesMasters/notesMaster1.xml" Id="R15ce97e65ccb43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9e60ba0c094a8a" /><Relationship Type="http://schemas.openxmlformats.org/officeDocument/2006/relationships/notesMaster" Target="/ppt/notesMasters/notesMaster1.xml" Id="R7c5c8800c4dd4c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5a81fb45404e42" /><Relationship Type="http://schemas.openxmlformats.org/officeDocument/2006/relationships/notesMaster" Target="/ppt/notesMasters/notesMaster1.xml" Id="Rc00670f3aab1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B1/B2 run.json, metrics, installed-execution.md. No real capture, reconstruction or learned policy used.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assets.json. ISO 23,151,480,832 bytes SHA ed5f41add2e97469c900f4ccff87f615eae4e7cfbedcc7d99211afd4d5dc7973. SDK hashes identify installed sources separately from repository HEAD. B1 ULog ver_sw a301969dc209c166b9fbbb524bd51ca1ece76b04.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Installed SDK file/line references in docs/rflysim/installed-execution.md. Scripted targets and estimate feedback close the loop. Pixels never enter controller.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https://docs.px4.io/v1.12/en/flight_stack/controller_diagrams and tuning_the_ecl_ekf accessed 2026-10-11. B1 ULog SYS_MC_EST_GROUP=2 and estimator topics support EKF2 configuration. Conceptual cascaded P/PID structure is documented, internal loop signals not independently validated. No dynamics calibration.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B1/B2 freeze.json, dwell-corroboration.json. 75s flight +15s cleanup,10Hz,12s/leg,0.5s freshness. Takeoff armed&gt;=1m1s; ON_GROUND/speed&lt;=0.2m/s2s plus fresh disarm. Independent truth criterion blocked.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Tick lateness&gt;10ms 56/280 vs116/292. Pixel copying, file I/O and resource sampling outside control. Preserve raw clocks. Cleanup limitation separate.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videos.json records source/frame/video hashes, encode/decode commands. Native images640x480; videos640x520 with40px caption, H264, noaudio. Full decode260/261/365. Receipt spans25.766/25.984/36.359s. All Drive videos roundtriphashverified.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worked-example.json. Latest preceding command UTC1791674187.6818573. Native estimate boot233896ms. Mode176 andarm400 ACKresult0. Position targets have no per-targetCOMMAND_ACK. Original trace512ACK is telemetry request, not waypoint acceptance. FrameSHA be45e6ef227cf1dd4967568796e25c484c920cbcbb1c3536b20e930d79983e5b.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camera-angle-diagnostics.json; official vis-cfg.html SensorAngEular degrees. A criteria0.02m/1deg,feature2%dimension.5swarmup/3sperpose/1ssettle/40swatch. Rotation defect belongs to authored helper, not simulator.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mount-diagnostic.json,camera-clock-diagnostics.json. A2firstimage257.636,camera425.638,nextimage426.759. No rootcause claimed. Desired interpolation linear/SLERP,bracketgap&lt;=0.1s,residual&lt;=0.02s,noextrapolation. These are nativecamera concerns, not universal externalrenderer prerequisites.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resource-coverage.json,process-resources.json. Driver596.86,L423034MiB. VendorWindows10/11documented; Server2025empirical.100samplesperrun~1.05s. B2apparent21.65soverlap underinferredUTC-04. CompleteISO23.15GB expandedsize/currentdiskmissing, compute$1.95/hr excludesunknownstorage/tax. No A6000 need/noLinuxcheapestclaim.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B1/B2 run.json and empty cleanup.jsonl. Authored lifecycle/preservation issue, not established upstream simulator failure. Fresh-queue/exit-status correction passed synthetic tests, not on-host validation. Offline B1 ULog additionally recovers660initialparams/11changes and firmware identity, see handoff/native-log-summary.json.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mesh route https://rflysim.com/doc/en/4.DevRef/3d-import.html accessed2026-10-11. VisionCaptureApi.sendImgBuffer forwarding not proved nativeinjection. Freeonecamera/vehicletested. NoGaussianloaderorrealphoto+posedirectpathverified. Existing externalrenderer no implementation here.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docs/r4r-audit-context.md. Missingrealimagery/poses/calibration/reconstruction/split/heldouthorizontalverticalviews/downstreammodel/approvedthresholds. NoPSNRSSIMLPIPS,policybenchmark,realtransfer. No simulatorrankingusingunmatchedworlds/hardware.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local-source-verification.json,source-before.json,outputs.json,drive-publication.json. Originalreport/deckpreservedGit9749a40andbefore snapshot. Executedsource raw/code-v2 immutable. CompleteISOWindows-only withofficialURL/hash; truncatedMacoriginal preserved.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docs/rflysim/minimal-followup.md estimates. Externalmotionmapping10–15min;correctedA10–15afterstartup;nativecalibration15–25;clock10–20;cleanup5–10onlyifreuse. Original numericalcriteriaunchanged. Humanfilesinstalled_adapter/runtime_core,capture_adapter,canonicalSDKandstocklauncher. No newauthorization/hoststartup. No HITL/training/customrenderer. Source: measured eval-20261010T215531Z, offline handoff-20261011T220420Z. Measurements remain 10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01f30c17a45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45bd969d14c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c943a49574c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2248ba7c142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2bfa946504e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c6d5750ea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AF60FE-CB05-4C8E-BC44-F7D5F2DB7F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EB3269-7F42-49D8-BAB0-76C42902C0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EFD83A-3F89-434F-8FB0-E4E6883B2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C0FDA3-9F69-4586-95A3-35BDF5D66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7093F0-3047-4987-9BEA-750F574E5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FADC8D-2EAE-436A-A443-38AAABE47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F2944F-8E11-4890-B81A-AA205D86B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60DB75-9F84-4075-B1A4-C016D8AC47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EC1E20-7345-4F9F-99E3-3203DEC49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A19228-31C7-4DEC-9CF8-9712766542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d2cd7f0b1c4dcd" /><Relationship Type="http://schemas.openxmlformats.org/officeDocument/2006/relationships/slideLayout" Target="/ppt/slideLayouts/slideLayout1.xml" Id="Rd3c3a5f3866f4a0c" /><Relationship Type="http://schemas.openxmlformats.org/officeDocument/2006/relationships/slideLayout" Target="/ppt/slideLayouts/slideLayout2.xml" Id="R24ef8063e33c4cbf" /><Relationship Type="http://schemas.openxmlformats.org/officeDocument/2006/relationships/slideLayout" Target="/ppt/slideLayouts/slideLayout3.xml" Id="R161911ebc71b4017" /><Relationship Type="http://schemas.openxmlformats.org/officeDocument/2006/relationships/slideLayout" Target="/ppt/slideLayouts/slideLayout4.xml" Id="R980a558f61914705" /><Relationship Type="http://schemas.openxmlformats.org/officeDocument/2006/relationships/slideLayout" Target="/ppt/slideLayouts/slideLayout5.xml" Id="R5ef918223c924671" /><Relationship Type="http://schemas.openxmlformats.org/officeDocument/2006/relationships/slideLayout" Target="/ppt/slideLayouts/slideLayout6.xml" Id="R498ece5799874a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3a5f3866f4a0c"/>
    <p:sldLayoutId xmlns:r="http://schemas.openxmlformats.org/officeDocument/2006/relationships" id="2147483650" r:id="R24ef8063e33c4cbf"/>
    <p:sldLayoutId xmlns:r="http://schemas.openxmlformats.org/officeDocument/2006/relationships" id="2147483651" r:id="R161911ebc71b4017"/>
    <p:sldLayoutId xmlns:r="http://schemas.openxmlformats.org/officeDocument/2006/relationships" id="2147483652" r:id="R980a558f61914705"/>
    <p:sldLayoutId xmlns:r="http://schemas.openxmlformats.org/officeDocument/2006/relationships" id="2147483653" r:id="R5ef918223c924671"/>
    <p:sldLayoutId xmlns:r="http://schemas.openxmlformats.org/officeDocument/2006/relationships" id="2147483654" r:id="R498ece5799874a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d5f226732447f" /><Relationship Type="http://schemas.openxmlformats.org/officeDocument/2006/relationships/image" Target="/ppt/media/image.png" Id="Ra4aa9811bc48492c" /><Relationship Type="http://schemas.openxmlformats.org/officeDocument/2006/relationships/notesSlide" Target="/ppt/notesSlides/notesSlide1.xml" Id="Rca0530ebb34349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ea436217d4bf1" /><Relationship Type="http://schemas.openxmlformats.org/officeDocument/2006/relationships/notesSlide" Target="/ppt/notesSlides/notesSlide2.xml" Id="R0e004bb440e74f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f90ca96224527" /><Relationship Type="http://schemas.openxmlformats.org/officeDocument/2006/relationships/notesSlide" Target="/ppt/notesSlides/notesSlide3.xml" Id="R54b919cf0a0b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35fcda48747f6" /><Relationship Type="http://schemas.openxmlformats.org/officeDocument/2006/relationships/notesSlide" Target="/ppt/notesSlides/notesSlide4.xml" Id="Rdafb9e984bf148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940ce624b485c" /><Relationship Type="http://schemas.openxmlformats.org/officeDocument/2006/relationships/image" Target="/ppt/media/image2.png" Id="Ref2198c0944f4d03" /><Relationship Type="http://schemas.openxmlformats.org/officeDocument/2006/relationships/notesSlide" Target="/ppt/notesSlides/notesSlide5.xml" Id="Rc9182cbeb0c848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4b75f53f54c7e" /><Relationship Type="http://schemas.openxmlformats.org/officeDocument/2006/relationships/image" Target="/ppt/media/image3.png" Id="R08c0f8a946f747a3" /><Relationship Type="http://schemas.openxmlformats.org/officeDocument/2006/relationships/notesSlide" Target="/ppt/notesSlides/notesSlide6.xml" Id="R3cd811177c0c4b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fdf28ba1e4ed0" /><Relationship Type="http://schemas.openxmlformats.org/officeDocument/2006/relationships/image" Target="/ppt/media/image4.png" Id="R216d40d9a9984016" /><Relationship Type="http://schemas.openxmlformats.org/officeDocument/2006/relationships/hyperlink" Target="https://drive.google.com/file/d/1ibOwVslVGmisP9X8UwDgCizux6ipR5fz/view" TargetMode="External" Id="Rc1423426fd40469d" /><Relationship Type="http://schemas.openxmlformats.org/officeDocument/2006/relationships/hyperlink" Target="https://drive.google.com/file/d/17zO7RcjxzS9Di2hQ6bunKNpjBWCwzgqw/view" TargetMode="External" Id="R7b422d749b6f4804" /><Relationship Type="http://schemas.openxmlformats.org/officeDocument/2006/relationships/hyperlink" Target="https://drive.google.com/file/d/1Oo4rKyNAbzIcOHF5U3Kjt43WKq89NAOd/view" TargetMode="External" Id="Re8230d57ba83427b" /><Relationship Type="http://schemas.openxmlformats.org/officeDocument/2006/relationships/notesSlide" Target="/ppt/notesSlides/notesSlide7.xml" Id="R7f23088bb52846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044ee7d5e405a" /><Relationship Type="http://schemas.openxmlformats.org/officeDocument/2006/relationships/image" Target="/ppt/media/image5.png" Id="R5de65a3d33dc40c7" /><Relationship Type="http://schemas.openxmlformats.org/officeDocument/2006/relationships/notesSlide" Target="/ppt/notesSlides/notesSlide8.xml" Id="R982eed0e1a3a45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7c7a2670a41c3" /><Relationship Type="http://schemas.openxmlformats.org/officeDocument/2006/relationships/image" Target="/ppt/media/image6.png" Id="R50ddb478258940e9" /><Relationship Type="http://schemas.openxmlformats.org/officeDocument/2006/relationships/notesSlide" Target="/ppt/notesSlides/notesSlide9.xml" Id="R7e7aee279aec4e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19c5194a4427a" /><Relationship Type="http://schemas.openxmlformats.org/officeDocument/2006/relationships/notesSlide" Target="/ppt/notesSlides/notesSlide10.xml" Id="R61225c460e4b4b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5c5d644bc45aa" /><Relationship Type="http://schemas.openxmlformats.org/officeDocument/2006/relationships/image" Target="/ppt/media/image7.png" Id="Rc4b2d9940cb34988" /><Relationship Type="http://schemas.openxmlformats.org/officeDocument/2006/relationships/notesSlide" Target="/ppt/notesSlides/notesSlide11.xml" Id="Rfee0a15ac33d44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2d773fea04625" /><Relationship Type="http://schemas.openxmlformats.org/officeDocument/2006/relationships/notesSlide" Target="/ppt/notesSlides/notesSlide12.xml" Id="Rddea561f6de849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61620b04f4566" /><Relationship Type="http://schemas.openxmlformats.org/officeDocument/2006/relationships/notesSlide" Target="/ppt/notesSlides/notesSlide13.xml" Id="R15de550a7d6b48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a53fa3fe446f2" /><Relationship Type="http://schemas.openxmlformats.org/officeDocument/2006/relationships/notesSlide" Target="/ppt/notesSlides/notesSlide14.xml" Id="Rd001f4bf2b774b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0919eefb742bc" /><Relationship Type="http://schemas.openxmlformats.org/officeDocument/2006/relationships/notesSlide" Target="/ppt/notesSlides/notesSlide15.xml" Id="R7445b78671d841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8ef3d119947b4" /><Relationship Type="http://schemas.openxmlformats.org/officeDocument/2006/relationships/notesSlide" Target="/ppt/notesSlides/notesSlide16.xml" Id="R913e688fc56b45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63A73-057E-40FA-A68C-4889B39E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5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RflySim components for R4R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A63E2-52CE-4DD8-BDEC-79926ACF9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a9811bc48492c"/>
          <a:stretch xmlns:a="http://schemas.openxmlformats.org/drawingml/2006/main"/>
        </p:blipFill>
        <p:spPr>
          <a:xfrm xmlns:a="http://schemas.openxmlformats.org/drawingml/2006/main">
            <a:off x="5810250" y="1674019"/>
            <a:ext cx="5695950" cy="427196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2C918-B752-420B-8D19-8959D80F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Reuse PX4/CopterSim for stock motion and control integration.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4043D-EEDF-4297-A12F-792C9DB1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Keep native RGB as a visual baseline. Two waypoint flights passed and B2 recorded RGB concurrently.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9B907-7D80-4D64-A01B-06BE0E2F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External motion replay is proposed. Native calibration and real-scene fidelity remain unverified.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636D6-160E-44EE-9E68-BD2D3863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1 / 16</a:t>
            </a:r>
          </a:p>
        </p:txBody>
      </p:sp>
    </p:spTree>
    <p:extLst>
      <p:ext uri="{BB962C8B-B14F-4D97-AF65-F5344CB8AC3E}">
        <p14:creationId xmlns:p14="http://schemas.microsoft.com/office/powerpoint/2010/main" val="123981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5F40-C432-4F7B-A4CE-24FA35D0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Actual assets and versions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3D38B-20E1-44D9-A79B-3E34D1F6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Software: Free v5.01-20260831. CopterSim 5.0.1, RflySim3D 5.01 / UE4.27.2, PX4 1.12.3dev.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E767F-7374-4FD4-A77B-60BA2930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Scene and vehicle: stock Grasslands, CopterSim model 0, Iris airframe 10016. Full physical model inventory is missing.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8A4A1-07A1-4B4B-919A-C49B84F7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No real reconstruction, dataset or learned weights. “Checkpoint” ZIPs back up evidence. They are not learned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6C397-2DFF-4FA4-B889-6AF06F6F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2 / 16</a:t>
            </a:r>
          </a:p>
        </p:txBody>
      </p:sp>
    </p:spTree>
    <p:extLst>
      <p:ext uri="{BB962C8B-B14F-4D97-AF65-F5344CB8AC3E}">
        <p14:creationId xmlns:p14="http://schemas.microsoft.com/office/powerpoint/2010/main" val="1034127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6110B-60EE-4D2E-BC4F-E86AE678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Native control and observation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A7939-C5C3-4F13-9C71-DBA7078A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62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6"/>
          </a:solidFill>
          <a:ln xmlns:a="http://schemas.openxmlformats.org/drawingml/2006/main" w="9525">
            <a:solidFill>
              <a:srgbClr val="8AACB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60C01-71B0-495B-BE2C-1751D075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85F1C-F5EA-44CD-9697-2FF4C963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752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NED targets</a:t>
            </a:r>
          </a:p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10 Hz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22CA6-DFF2-4200-B0DE-414A410C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66975"/>
            <a:ext cx="190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6A7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00C07-2451-4F57-AE45-8D47DDD9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9750"/>
            <a:ext cx="1962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6"/>
          </a:solidFill>
          <a:ln xmlns:a="http://schemas.openxmlformats.org/drawingml/2006/main" w="9525">
            <a:solidFill>
              <a:srgbClr val="8AACB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438F2-0A3E-42C3-A5BE-18E9F943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3357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PX4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B4EC9-4736-4046-A90C-340F7ACD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95550"/>
            <a:ext cx="1752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Estimation</a:t>
            </a:r>
          </a:p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and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2C209-2D7B-49C5-8FF9-BD270E13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66975"/>
            <a:ext cx="190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6A7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1A84C-3464-4407-B4ED-EDC5F7C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9750"/>
            <a:ext cx="1962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6"/>
          </a:solidFill>
          <a:ln xmlns:a="http://schemas.openxmlformats.org/drawingml/2006/main" w="9525">
            <a:solidFill>
              <a:srgbClr val="8AACB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86C40-FEC8-4126-A044-164A2D97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CopterSim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38B89-996B-4B1C-A790-73A39EE8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1752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Actuators</a:t>
            </a:r>
          </a:p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to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092DF-59BD-4551-ADC4-08372C57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66975"/>
            <a:ext cx="190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6A7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3126D-8017-4664-8936-EA5B3FF9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1962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6"/>
          </a:solidFill>
          <a:ln xmlns:a="http://schemas.openxmlformats.org/drawingml/2006/main" w="9525">
            <a:solidFill>
              <a:srgbClr val="8AACB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C1E32-8C36-444E-A506-49F34415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3357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RflySim3D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49D9A-CC58-4930-935A-BC6C2130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1752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Body motion</a:t>
            </a:r>
          </a:p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to RGB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FDEF2-D4AB-4CA9-B02D-D0FC3A00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66975"/>
            <a:ext cx="190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6A7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BEDEB-2241-481F-8CA3-82B5E18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962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6"/>
          </a:solidFill>
          <a:ln xmlns:a="http://schemas.openxmlformats.org/drawingml/2006/main" w="9525">
            <a:solidFill>
              <a:srgbClr val="8AACB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7378E-9CF6-4B66-A1D1-A6A5B380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3357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Recorder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4559A-9690-422E-9370-1DB28EF5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1752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PNG frames</a:t>
            </a:r>
          </a:p>
          <a:p xmlns:a="http://schemas.openxmlformats.org/drawingml/2006/main">
            <a:pPr>
              <a:defRPr sz="18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and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29CB4-7216-4041-896E-B448B86B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PX4 estimates, ACKs, modes and arming return to the supervisor.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55472-3D09-4026-BF5C-7DEB1F1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Body truth, native camera metadata and image timestamps export separately.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4A858-9440-475F-9D96-02186857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Control UDP 20100/20101, SITL TCP 4560, truth UDP 30101, camera UDP 20006, RGB shared memory.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87A37-D32D-4D8A-894A-AF20EC16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3 / 16</a:t>
            </a:r>
          </a:p>
        </p:txBody>
      </p:sp>
    </p:spTree>
    <p:extLst>
      <p:ext uri="{BB962C8B-B14F-4D97-AF65-F5344CB8AC3E}">
        <p14:creationId xmlns:p14="http://schemas.microsoft.com/office/powerpoint/2010/main" val="86076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AEF0C-8FDB-49A7-BC51-BD4EEDE7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Algorithms and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97F2D-5DC8-4D2A-B438-75BD1E5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Our script advances a target only after fresh estimated position stays inside the tolerance for 2 seconds.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F00DF-3A07-48E7-930C-896EE694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PX4 estimates motion and uses position, velocity, attitude and rate feedback to generate actuators. CopterSim integrates the stock dynamics.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EBD2A-C1AB-45A3-9F21-E96C0C05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UE renders scene pixels. A separate process copies frames and writes files. No image-based controller ran.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66299-2E90-456F-94F8-C68ACA5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4 / 16</a:t>
            </a:r>
          </a:p>
        </p:txBody>
      </p:sp>
    </p:spTree>
    <p:extLst>
      <p:ext uri="{BB962C8B-B14F-4D97-AF65-F5344CB8AC3E}">
        <p14:creationId xmlns:p14="http://schemas.microsoft.com/office/powerpoint/2010/main" val="76632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AB9F-E30E-4C70-BF59-C218FDBB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Both flights completed the route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F7FB2-4649-4175-95E8-7B7A95C5DA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198c0944f4d03"/>
          <a:stretch xmlns:a="http://schemas.openxmlformats.org/drawingml/2006/main"/>
        </p:blipFill>
        <p:spPr>
          <a:xfrm xmlns:a="http://schemas.openxmlformats.org/drawingml/2006/main">
            <a:off x="1643063" y="1381125"/>
            <a:ext cx="8905875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781BC-1957-4EDE-8D0D-904F6F9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B1 without capture: 38.750 s. B2 with RGB: 39.219 s. Both minimum integration and full-route outcomes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90D68-100C-4420-80B7-74B7F9F7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NED metres: (0,0,-2), (2,0,-2), (2,2,-2), (0,0,-2), land. Each leg required error ≤0.25 m for 2 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AA8CB-406A-4334-849F-54426942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Fresh PX4 estimates provide the measurement basis. Landing and disarming are retained in the raw flight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7E05E-1066-47B4-AA34-1F9483C4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5 / 16</a:t>
            </a:r>
          </a:p>
        </p:txBody>
      </p:sp>
    </p:spTree>
    <p:extLst>
      <p:ext uri="{BB962C8B-B14F-4D97-AF65-F5344CB8AC3E}">
        <p14:creationId xmlns:p14="http://schemas.microsoft.com/office/powerpoint/2010/main" val="1059093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FFDD3-F963-428B-BA5B-E51267CA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Control timing with concurrent RGB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1D53D-E8A0-413F-865B-A1865945C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0f8a946f747a3"/>
          <a:stretch xmlns:a="http://schemas.openxmlformats.org/drawingml/2006/main"/>
        </p:blipFill>
        <p:spPr>
          <a:xfrm xmlns:a="http://schemas.openxmlformats.org/drawingml/2006/main">
            <a:off x="2857500" y="1381125"/>
            <a:ext cx="6477000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99101-7687-49B0-814F-F6A100C2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Mean target intervals: B1 100.022 ms, B2 100.034 ms. Maximum intervals: 109 ms and 110 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FA4BE-380C-4DEB-86C4-E8AFD4A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Maximum tick lateness: 12 ms and 16 ms. Neither run exceeded 100 ms. Position gaps peaked at 125 ms and 110 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271C4-452B-4823-B11A-039C66D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These two sequential flights do not isolate capture overhead. Reset state, leg durations and scheduler timing also differ.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C89D5-7893-47E8-A546-9C2DC1D2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6 / 16</a:t>
            </a:r>
          </a:p>
        </p:txBody>
      </p:sp>
    </p:spTree>
    <p:extLst>
      <p:ext uri="{BB962C8B-B14F-4D97-AF65-F5344CB8AC3E}">
        <p14:creationId xmlns:p14="http://schemas.microsoft.com/office/powerpoint/2010/main" val="1799422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D6959-1D3F-4B63-8D75-E21EA39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Playable native RGB recordings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D97A-6A45-440D-9D7E-A1D02944C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d40d9a9984016"/>
          <a:stretch xmlns:a="http://schemas.openxmlformats.org/drawingml/2006/main"/>
        </p:blipFill>
        <p:spPr>
          <a:xfrm xmlns:a="http://schemas.openxmlformats.org/drawingml/2006/main">
            <a:off x="5810250" y="1674019"/>
            <a:ext cx="5695950" cy="427196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AA2E9-57E6-4332-88C8-C89A2FF7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A1: 260 frames, 26.0 s playback. Capture was short at 25.797 s and rotations were invalid.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61DB5-E36F-457A-8DAC-9EE79007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A2: 261 frames, 26.1 s playback. Rotations were invalid. B2: 365 frames, 36.5 s playback during its route.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3FFCA-D909-4B9A-822D-6B8C7497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Rate test: 300 post-warmup frames, 10.013 Hz. Videos use fixed 10 FPS playback including warmup. Acquisition time is unknown.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172AE-0BDA-4BBE-8F3D-EFDB6A28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u="sng">
                <a:solidFill>
                  <a:srgbClr val="2563EB"/>
                </a:solidFill>
                <a:hlinkClick xmlns:r="http://schemas.openxmlformats.org/officeDocument/2006/relationships" r:id="Rc1423426fd40469d"/>
              </a:rPr>
              <a:t>A1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1F13D-5EF1-452D-B319-E2FB5B62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34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u="sng">
                <a:solidFill>
                  <a:srgbClr val="2563EB"/>
                </a:solidFill>
                <a:hlinkClick xmlns:r="http://schemas.openxmlformats.org/officeDocument/2006/relationships" r:id="R7b422d749b6f4804"/>
              </a:rPr>
              <a:t>A2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28F85-EDB6-4EC5-9752-2F9D5EC2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34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u="sng">
                <a:solidFill>
                  <a:srgbClr val="2563EB"/>
                </a:solidFill>
                <a:hlinkClick xmlns:r="http://schemas.openxmlformats.org/officeDocument/2006/relationships" r:id="Re8230d57ba83427b"/>
              </a:rPr>
              <a:t>B2 video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1AFBC-FD96-4124-A9B7-6FA2145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7 / 16</a:t>
            </a:r>
          </a:p>
        </p:txBody>
      </p:sp>
    </p:spTree>
    <p:extLst>
      <p:ext uri="{BB962C8B-B14F-4D97-AF65-F5344CB8AC3E}">
        <p14:creationId xmlns:p14="http://schemas.microsoft.com/office/powerpoint/2010/main" val="97608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68FE3-A0EB-4C2D-B4A5-03061CE2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Worked record trace: B2 frame 182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54B0C-1AC2-418D-9DAF-2BC97AEFD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65a3d33dc40c7"/>
          <a:stretch xmlns:a="http://schemas.openxmlformats.org/drawingml/2006/main"/>
        </p:blipFill>
        <p:spPr>
          <a:xfrm xmlns:a="http://schemas.openxmlformats.org/drawingml/2006/main">
            <a:off x="5810250" y="1674019"/>
            <a:ext cx="5695950" cy="427196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515D8-C08C-4264-AC0B-97B5531A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Target (2,2,-2) at UTC 1791674187.681857. Nearby PX4 estimate: (1.985,1.743,-1.999) m. OFFBOARD and armed.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EC1B0-7A20-49A6-A2DE-6916580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Native body: (2.035,1.695,-10.042). Camera: (2.335,1.684,-10.193). Their map origin differs from PX4 local 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6C59A-B7F7-4223-871E-9FDC5B49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Frame clock 239.352. Camera clock 239.392. Body clock 239.405. Receiver-near illustration only. Acquisition pose is unknown.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65377-26BE-455C-BD43-4C74628E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Concurrent records demonstrated · acquisition-time association unverified   8 / 16</a:t>
            </a:r>
          </a:p>
        </p:txBody>
      </p:sp>
    </p:spTree>
    <p:extLst>
      <p:ext uri="{BB962C8B-B14F-4D97-AF65-F5344CB8AC3E}">
        <p14:creationId xmlns:p14="http://schemas.microsoft.com/office/powerpoint/2010/main" val="335005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0843A-B252-4352-AF74-F452B92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Camera results and authored defects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2E3CD-FE93-42C8-AA35-E231483B8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db478258940e9"/>
          <a:stretch xmlns:a="http://schemas.openxmlformats.org/drawingml/2006/main"/>
        </p:blipFill>
        <p:spPr>
          <a:xfrm xmlns:a="http://schemas.openxmlformats.org/drawingml/2006/main">
            <a:off x="5810250" y="1674019"/>
            <a:ext cx="5695950" cy="427196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0779C-4111-4414-A8FD-ABEA1CEC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The degree field received radians. Intended yaw 15° and pitch 10° became about 0.262° and 0.172°.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B669C-2906-4CAE-96BE-350A675D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Our local angle and duration fixes have not run on Windows. The unexported duration-only retest still used wrong angles.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8C662-69F4-477B-8E4D-0A937E1B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Repeatability and projected-feature criteria remain incomplete. Native pose metadata does not establish calibrated acquisition pose.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90DBF-99AE-4A8D-AB58-3330B150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9 / 16</a:t>
            </a:r>
          </a:p>
        </p:txBody>
      </p:sp>
    </p:spTree>
    <p:extLst>
      <p:ext uri="{BB962C8B-B14F-4D97-AF65-F5344CB8AC3E}">
        <p14:creationId xmlns:p14="http://schemas.microsoft.com/office/powerpoint/2010/main" val="370590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62110-1BE8-48D5-A688-8697923B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Native calibration and clock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B8711-5035-4FA1-9AB9-68350E7B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Initial camera minus body was (0.3,0,-0.15) m despite the requested (0.3,0,0) mount. Actor-origin explanation is unresolved.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5698A-652A-4EF6-B8D6-AFFB8969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FOV axis, projection, optical axes, color/orientation and achieved extrinsics need independent checks for native calibrated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B8F28-0EDF-42C6-B522-0C9BDCDE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Acquisition UTC is unknown. A2 began with an old-looking image clock. No latency or geometric pass follows from receiver timestamps.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7BA6B-685A-4541-8E91-F408AF80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10 / 16</a:t>
            </a:r>
          </a:p>
        </p:txBody>
      </p:sp>
    </p:spTree>
    <p:extLst>
      <p:ext uri="{BB962C8B-B14F-4D97-AF65-F5344CB8AC3E}">
        <p14:creationId xmlns:p14="http://schemas.microsoft.com/office/powerpoint/2010/main" val="392970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5100E-929B-4B35-B588-3B88BA36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Hardware and measurement coverage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D1CE0-2262-4848-87AF-363F78414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2d9940cb34988"/>
          <a:stretch xmlns:a="http://schemas.openxmlformats.org/drawingml/2006/main"/>
        </p:blipFill>
        <p:spPr>
          <a:xfrm xmlns:a="http://schemas.openxmlformats.org/drawingml/2006/main">
            <a:off x="698500" y="1381125"/>
            <a:ext cx="10795000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C5A72-65C3-48AB-BEE1-34A8A0EF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L4 / Windows Server 2025 / WSL1 worked on this host. 8 logical CPUs, 32 GB RAM, 400 GB SSD.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8D81D-C2AB-4B82-BC1D-3E3CFCD8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Whole-window GPU peaks: B1 1,761 MiB, B2 1,758 MiB. Mean utilization: 16.93% and 17.47%.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594E4-5178-41AB-B96A-CFA33B96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Desktop and Moonlight share the samples. B2 coverage ends mid-flight. Minimum VRAM, total RAM and renderer-only throughput are unknown.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776DA-613C-471C-94EE-D998924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11 / 16</a:t>
            </a:r>
          </a:p>
        </p:txBody>
      </p:sp>
    </p:spTree>
    <p:extLst>
      <p:ext uri="{BB962C8B-B14F-4D97-AF65-F5344CB8AC3E}">
        <p14:creationId xmlns:p14="http://schemas.microsoft.com/office/powerpoint/2010/main" val="16708320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F2CD7-9016-4796-9A04-288CB83C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Cleanup lifecycle and evidence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F0F62-D87F-4B4D-B73E-CD2641B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Flight records confirm landing and disarming in both B runs. Separate cleanup evaluators also returned confirmation summaries.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43357-D990-4E52-B236-602D1CD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Our cleanup workers stayed alive until the 15 s deadline, exit -15. Raw cleanup logs are empty. The queue/finalizer cause remains unresolved.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D22F0-8913-48C8-88CB-8A40648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Local lifecycle fixes need a Windows retest only if the unattended helper will be reused. This issue does not invalidate the retained flight passes.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0C147-45F7-4670-972A-F7E678B4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12 / 16</a:t>
            </a:r>
          </a:p>
        </p:txBody>
      </p:sp>
    </p:spTree>
    <p:extLst>
      <p:ext uri="{BB962C8B-B14F-4D97-AF65-F5344CB8AC3E}">
        <p14:creationId xmlns:p14="http://schemas.microsoft.com/office/powerpoint/2010/main" val="16471094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06BA4-1A56-4485-B20E-449FB7F8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R4R reuse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E4B1C-66AB-4245-8642-4364E6BE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6"/>
          </a:solidFill>
          <a:ln xmlns:a="http://schemas.openxmlformats.org/drawingml/2006/main" w="9525">
            <a:solidFill>
              <a:srgbClr val="CFDDE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7DE7F-6340-4399-ABE8-FCBB34C2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573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Native visual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60FE5-07BA-4032-B9F1-688EEBA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6573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6A7F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774C8-EE0A-4CEF-B12F-853110D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Stock RGB and control integration. Native calibration needed for geometric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C91-B8F4-4247-B047-F762E04B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820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D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94C62-C943-490B-A635-86BD1213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7177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Motion to external Gaussian renderer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76563-79E3-44A0-9C2C-32ADDA4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7177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6A7F"/>
                </a:solidFill>
                <a:latin typeface="Arial"/>
                <a:ea typeface="Arial"/>
                <a:cs typeface="Arial"/>
              </a:rPr>
              <a:t>Proposed small adapter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66A42-1185-4A9A-B2CB-C6519A71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7177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Verify chosen body frame/origin/scale. External renderer can supply its own camera and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28398-5B63-4BF6-885B-BD6498D0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6"/>
          </a:solidFill>
          <a:ln xmlns:a="http://schemas.openxmlformats.org/drawingml/2006/main" w="9525">
            <a:solidFill>
              <a:srgbClr val="CFDD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AA675-6C5F-404C-95CE-22007ED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8620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Reconstructed mesh through 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8E0E4-086D-42F4-A702-DBAF45D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862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6A7F"/>
                </a:solidFill>
                <a:latin typeface="Arial"/>
                <a:ea typeface="Arial"/>
                <a:cs typeface="Arial"/>
              </a:rPr>
              <a:t>Documented, eligibility unresolved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C1162-3DD4-4D92-A596-28826F3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Cooked UE assets plus XML. Verify installed loader and Free custom-scene permission.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612C6-9AD7-40E9-A834-5E505336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E67D2-32BC-4518-AEF0-0C1848C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Future visual controller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23F33-82EF-40AA-BEAC-6CF9A176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0006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76A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6A7F"/>
                </a:solidFill>
                <a:latin typeface="Arial"/>
                <a:ea typeface="Arial"/>
                <a:cs typeface="Arial"/>
              </a:rPr>
              <a:t>Substantial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CD016-70DE-48E6-93E3-5093CD2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006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Deliver external images to a controller, then commands to PX4. Scheduling/reset and task interfaces remain.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068A2-1FF6-44CE-AEA4-5F3EA5DF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Native calibration is architecture-specific · depth/contact only when the task needs them   13 / 16</a:t>
            </a:r>
          </a:p>
        </p:txBody>
      </p:sp>
    </p:spTree>
    <p:extLst>
      <p:ext uri="{BB962C8B-B14F-4D97-AF65-F5344CB8AC3E}">
        <p14:creationId xmlns:p14="http://schemas.microsoft.com/office/powerpoint/2010/main" val="10464421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20874-3E44-4FEB-87E2-CBE6C05F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Applicability and research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34452-E466-42DF-90A5-4C904A63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Residential, suburban and campus views below 100 m remain fidelity research questions. No real reconstruction entered this audit.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31128-3F39-4E17-BA3F-517456C3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Sparse capture means missing view coverage. Sparse scene content means limited physical/perceptual structure. They need different evaluations.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4B5A3-16F8-4E31-9E87-D7F197C3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Indoor navigation and racing are untested tasks. C lacks a compatible released policy path. That does not erase component usefulness.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A8008-5A99-46DE-BE5E-A92D8E84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14 / 16</a:t>
            </a:r>
          </a:p>
        </p:txBody>
      </p:sp>
    </p:spTree>
    <p:extLst>
      <p:ext uri="{BB962C8B-B14F-4D97-AF65-F5344CB8AC3E}">
        <p14:creationId xmlns:p14="http://schemas.microsoft.com/office/powerpoint/2010/main" val="2924801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C345A-5557-46C0-967C-FA96AB7B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Preservation and reviewer 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A7911-71A9-4807-A494-2E8108B2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Mac copies verify all three evidence ZIPs and their internal manifests. Main records include 1,237 native PNGs and B1 ULog.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A4C20-BFCF-491A-BEA3-6C7C1DC7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Standalone videos, the revised deck/PDF and an explanatory index publish to the existing private Drive folder. Sharing stays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3D81C-E704-47DE-97BE-28DF97F2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Final transcript, B2 ULog, strict-duration A1 retest and final scene/model/launcher inventory remain missing from durable delivery.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4301A-3160-4ACF-B9F4-921C1655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Stock integration evidence · offline handoff 11 October 2026   15 / 16</a:t>
            </a:r>
          </a:p>
        </p:txBody>
      </p:sp>
    </p:spTree>
    <p:extLst>
      <p:ext uri="{BB962C8B-B14F-4D97-AF65-F5344CB8AC3E}">
        <p14:creationId xmlns:p14="http://schemas.microsoft.com/office/powerpoint/2010/main" val="5618944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FAF32-F43A-43F4-9CF5-94FC69F2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Minimal follow-up and interface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6DEE6-B764-486D-AD59-1854B744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No restart is needed for the control/native-baseline decision. Optional recovery of missing files would take about 15–20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8E21A-62BD-4FC0-83F7-447BE6C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Only measure the selected role next: external motion mapping, native calibrated replay, or our cleanup helper. Do not repeat every passed flight.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A7E9F-D19A-4E02-8ABB-54E46731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Understand NED/FRD versus camera axes, estimate versus truth, ACK versus achieved state, distinct clocks, and SITL versus physical HITL.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B45E0-ED32-4D77-A5BE-C70A337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Offline handoff complete · AirGPU stays Off · no new simulator measurements   16 / 16</a:t>
            </a:r>
          </a:p>
        </p:txBody>
      </p:sp>
    </p:spTree>
    <p:extLst>
      <p:ext uri="{BB962C8B-B14F-4D97-AF65-F5344CB8AC3E}">
        <p14:creationId xmlns:p14="http://schemas.microsoft.com/office/powerpoint/2010/main" val="1598412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2026-10-11T22:25:45.5890000Z</dcterms:created>
  <dcterms:modified xsi:type="dcterms:W3CDTF">2026-10-11T22:25:45.5890000Z</dcterms:modified>
</coreProperties>
</file>