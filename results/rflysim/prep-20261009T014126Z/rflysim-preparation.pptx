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f3fa00ff514dcf" /><Relationship Type="http://schemas.openxmlformats.org/officeDocument/2006/relationships/extended-properties" Target="/docProps/app.xml" Id="Rb34fb3e9ed164c85" /><Relationship Type="http://schemas.openxmlformats.org/officeDocument/2006/relationships/officeDocument" Target="/ppt/presentation.xml" Id="Rc7287019e94d4f7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f80e7624ec54c30"/>
  </p:sldMasterIdLst>
  <p:notesMasterIdLst>
    <p:notesMasterId xmlns:r="http://schemas.openxmlformats.org/officeDocument/2006/relationships" r:id="Rbf921f5f98074e62"/>
  </p:notesMasterIdLst>
  <p:sldIdLst>
    <p:sldId xmlns:r="http://schemas.openxmlformats.org/officeDocument/2006/relationships" id="256" r:id="Rb8e9ab4b9a1640f4"/>
    <p:sldId xmlns:r="http://schemas.openxmlformats.org/officeDocument/2006/relationships" id="257" r:id="R7fe13bb717df464a"/>
    <p:sldId xmlns:r="http://schemas.openxmlformats.org/officeDocument/2006/relationships" id="258" r:id="Rd11a5cc59726485c"/>
    <p:sldId xmlns:r="http://schemas.openxmlformats.org/officeDocument/2006/relationships" id="259" r:id="R1b9e23dc35a5441e"/>
    <p:sldId xmlns:r="http://schemas.openxmlformats.org/officeDocument/2006/relationships" id="260" r:id="R015ca147a566422c"/>
    <p:sldId xmlns:r="http://schemas.openxmlformats.org/officeDocument/2006/relationships" id="261" r:id="R0f7d64296daf4d9f"/>
    <p:sldId xmlns:r="http://schemas.openxmlformats.org/officeDocument/2006/relationships" id="262" r:id="R3721b34515d340ae"/>
    <p:sldId xmlns:r="http://schemas.openxmlformats.org/officeDocument/2006/relationships" id="263" r:id="R228c29b12a4743ac"/>
    <p:sldId xmlns:r="http://schemas.openxmlformats.org/officeDocument/2006/relationships" id="264" r:id="R7f29309d7a964824"/>
    <p:sldId xmlns:r="http://schemas.openxmlformats.org/officeDocument/2006/relationships" id="265" r:id="R74dca71b516e44b4"/>
    <p:sldId xmlns:r="http://schemas.openxmlformats.org/officeDocument/2006/relationships" id="266" r:id="Re67bfc4c97e34dba"/>
    <p:sldId xmlns:r="http://schemas.openxmlformats.org/officeDocument/2006/relationships" id="267" r:id="R7cbc17a62eb8403f"/>
    <p:sldId xmlns:r="http://schemas.openxmlformats.org/officeDocument/2006/relationships" id="268" r:id="R0ac538990e744f51"/>
    <p:sldId xmlns:r="http://schemas.openxmlformats.org/officeDocument/2006/relationships" id="269" r:id="R727ff55283084c9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0665f977d814480" /><Relationship Type="http://schemas.openxmlformats.org/officeDocument/2006/relationships/slideMaster" Target="/ppt/slideMasters/slideMaster1.xml" Id="R4f80e7624ec54c30" /><Relationship Type="http://schemas.openxmlformats.org/officeDocument/2006/relationships/notesMaster" Target="/ppt/notesMasters/notesMaster1.xml" Id="Rbf921f5f98074e62" /><Relationship Type="http://schemas.openxmlformats.org/officeDocument/2006/relationships/presProps" Target="/ppt/presProps.xml" Id="R9c85e18f0cb54f1a" /><Relationship Type="http://schemas.openxmlformats.org/officeDocument/2006/relationships/tableStyles" Target="/ppt/tableStyles.xml" Id="R6efca6568ad64609" /><Relationship Type="http://schemas.openxmlformats.org/officeDocument/2006/relationships/slide" Target="/ppt/slides/slide1.xml" Id="Rb8e9ab4b9a1640f4" /><Relationship Type="http://schemas.openxmlformats.org/officeDocument/2006/relationships/slide" Target="/ppt/slides/slide2.xml" Id="R7fe13bb717df464a" /><Relationship Type="http://schemas.openxmlformats.org/officeDocument/2006/relationships/slide" Target="/ppt/slides/slide3.xml" Id="Rd11a5cc59726485c" /><Relationship Type="http://schemas.openxmlformats.org/officeDocument/2006/relationships/slide" Target="/ppt/slides/slide4.xml" Id="R1b9e23dc35a5441e" /><Relationship Type="http://schemas.openxmlformats.org/officeDocument/2006/relationships/slide" Target="/ppt/slides/slide5.xml" Id="R015ca147a566422c" /><Relationship Type="http://schemas.openxmlformats.org/officeDocument/2006/relationships/slide" Target="/ppt/slides/slide6.xml" Id="R0f7d64296daf4d9f" /><Relationship Type="http://schemas.openxmlformats.org/officeDocument/2006/relationships/slide" Target="/ppt/slides/slide7.xml" Id="R3721b34515d340ae" /><Relationship Type="http://schemas.openxmlformats.org/officeDocument/2006/relationships/slide" Target="/ppt/slides/slide8.xml" Id="R228c29b12a4743ac" /><Relationship Type="http://schemas.openxmlformats.org/officeDocument/2006/relationships/slide" Target="/ppt/slides/slide9.xml" Id="R7f29309d7a964824" /><Relationship Type="http://schemas.openxmlformats.org/officeDocument/2006/relationships/slide" Target="/ppt/slides/slide10.xml" Id="R74dca71b516e44b4" /><Relationship Type="http://schemas.openxmlformats.org/officeDocument/2006/relationships/slide" Target="/ppt/slides/slide11.xml" Id="Re67bfc4c97e34dba" /><Relationship Type="http://schemas.openxmlformats.org/officeDocument/2006/relationships/slide" Target="/ppt/slides/slide12.xml" Id="R7cbc17a62eb8403f" /><Relationship Type="http://schemas.openxmlformats.org/officeDocument/2006/relationships/slide" Target="/ppt/slides/slide13.xml" Id="R0ac538990e744f51" /><Relationship Type="http://schemas.openxmlformats.org/officeDocument/2006/relationships/slide" Target="/ppt/slides/slide14.xml" Id="R727ff55283084c9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3b5a8193c264ff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108180849874419" /><Relationship Type="http://schemas.openxmlformats.org/officeDocument/2006/relationships/notesMaster" Target="/ppt/notesMasters/notesMaster1.xml" Id="R781055ac8196419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03b1f8ab82343a9" /><Relationship Type="http://schemas.openxmlformats.org/officeDocument/2006/relationships/notesMaster" Target="/ppt/notesMasters/notesMaster1.xml" Id="R05600c6ad6fa465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166a210e4c04ba1" /><Relationship Type="http://schemas.openxmlformats.org/officeDocument/2006/relationships/notesMaster" Target="/ppt/notesMasters/notesMaster1.xml" Id="Reff3eddf196c424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5074af3b8154262" /><Relationship Type="http://schemas.openxmlformats.org/officeDocument/2006/relationships/notesMaster" Target="/ppt/notesMasters/notesMaster1.xml" Id="R041758911113436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f91ea13a2e64616" /><Relationship Type="http://schemas.openxmlformats.org/officeDocument/2006/relationships/notesMaster" Target="/ppt/notesMasters/notesMaster1.xml" Id="Rb8e1c940176f48e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d5e166df47749a1" /><Relationship Type="http://schemas.openxmlformats.org/officeDocument/2006/relationships/notesMaster" Target="/ppt/notesMasters/notesMaster1.xml" Id="Rbef9e79090a04a0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bdef508062a4dc3" /><Relationship Type="http://schemas.openxmlformats.org/officeDocument/2006/relationships/notesMaster" Target="/ppt/notesMasters/notesMaster1.xml" Id="Rb276f8f0679b411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94a7068570e4b94" /><Relationship Type="http://schemas.openxmlformats.org/officeDocument/2006/relationships/notesMaster" Target="/ppt/notesMasters/notesMaster1.xml" Id="R62861f7c5e9640e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02bcf21db9f4966" /><Relationship Type="http://schemas.openxmlformats.org/officeDocument/2006/relationships/notesMaster" Target="/ppt/notesMasters/notesMaster1.xml" Id="R2a5ffa41454648c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476ab71564c4686" /><Relationship Type="http://schemas.openxmlformats.org/officeDocument/2006/relationships/notesMaster" Target="/ppt/notesMasters/notesMaster1.xml" Id="Rd3b05f184a7342e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d902d721c644f4f" /><Relationship Type="http://schemas.openxmlformats.org/officeDocument/2006/relationships/notesMaster" Target="/ppt/notesMasters/notesMaster1.xml" Id="Rd2bc7083fbd0460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50f2d2b7c054d8e" /><Relationship Type="http://schemas.openxmlformats.org/officeDocument/2006/relationships/notesMaster" Target="/ppt/notesMasters/notesMaster1.xml" Id="Rc6a761ec55374f7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0f0b6f59a89466b" /><Relationship Type="http://schemas.openxmlformats.org/officeDocument/2006/relationships/notesMaster" Target="/ppt/notesMasters/notesMaster1.xml" Id="Rc28a20c3c52b407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43f6f4049734d73" /><Relationship Type="http://schemas.openxmlformats.org/officeDocument/2006/relationships/notesMaster" Target="/ppt/notesMasters/notesMaster1.xml" Id="R247547a7d38744f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Preparation only. No simulator execution, rented hardware or fabricated measurements. See docs/rflysim/handoff.md.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docs/r4r-audit-context.md; user 2026-10-08 prompt. Stock RGB does not establish reconstruction fidelity or transfer.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https://rflysim.com/doc/en/3.Soft/coptersim.html ; https://rflysim.com/doc/en/1.Start/install.html ; docs/rflysim/interfaces.md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https://rflysim.com/download.html ; https://rflysim.com/js/langData.js?v=20260715_course lines519–522 ; https://rflysim.com/doc/en/3.Soft/winwsl.html ; docs/rflysim/setup.md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User 2026-10-08 prompt; official FAQ80–100GB expanded guidance. No A6000 requirement or cheapest-host claim. Address stays in ignored local access-candidate.json.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simulators/rflysim/audit-config.json. User-preserved acceptance criteria; audit-specific takeoff/touchdown criteria in handoff. B not tested.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simulators/rflysim/audit-config.json. Camera modes/world conventions require installed validation; numerical choices are audit settings, not lab thresholds.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docs/rflysim/interfaces.md; pinned VisionCaptureApi.py lines1340–1455; UE4CtrlAPI reqCam/getCamCoptObj documentation. Coupled capture blocked pending actual pose/time verification.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docs/rflysim/runner-review.md; recovered script exact hash in recovery.json. Public camera source lacks stopRun definition. No experiments were run.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https://rflysim.com/doc/en/4.DevRef/3d-import.html ; docs/rflysim/interfaces.md. No PSNR/SSIM/LPIPS or stock-image fidelity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docs/rflysim/interfaces.md. Public VisionCaptureApi is receive/forward code, not a Gaussian integration demonstration.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https://github.com/RflySim/RflyArena/blob/c43421ed5ccc46d4d049d94ac3af8ebbe8b80137/src/rl_control/scripts/control_rl_node.py#L485 ; source tree asset sizes in docs/rflysim/assets.md.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docs/rflysim/handoff.md; docs/r4r-audit-context.md. All task outcomes not tested; no real-world transfer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docs/rflysim/setup.md and handoff.md; preservation verification recorded in result directory. Preparation deck is not measured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60f8abfa6f474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d2d93f9ec314c9a" /><Relationship Type="http://schemas.openxmlformats.org/officeDocument/2006/relationships/slideLayout" Target="/ppt/slideLayouts/slideLayout1.xml" Id="Rd37703374613416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7703374613416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542444226b428a" /><Relationship Type="http://schemas.openxmlformats.org/officeDocument/2006/relationships/notesSlide" Target="/ppt/notesSlides/notesSlide1.xml" Id="R3794f1bd8e6d40b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707a3826134393" /><Relationship Type="http://schemas.openxmlformats.org/officeDocument/2006/relationships/notesSlide" Target="/ppt/notesSlides/notesSlide2.xml" Id="Re0823ec89a2a43d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f66aa1abed48b9" /><Relationship Type="http://schemas.openxmlformats.org/officeDocument/2006/relationships/notesSlide" Target="/ppt/notesSlides/notesSlide3.xml" Id="R1c57ea28b80243b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1b2846489f4107" /><Relationship Type="http://schemas.openxmlformats.org/officeDocument/2006/relationships/notesSlide" Target="/ppt/notesSlides/notesSlide4.xml" Id="Rcd7e4ac86968428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cbaa9fe4234be3" /><Relationship Type="http://schemas.openxmlformats.org/officeDocument/2006/relationships/notesSlide" Target="/ppt/notesSlides/notesSlide5.xml" Id="Re5f81c7f0fdc4a0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fad88dee0543e1" /><Relationship Type="http://schemas.openxmlformats.org/officeDocument/2006/relationships/notesSlide" Target="/ppt/notesSlides/notesSlide6.xml" Id="Rc7e09ba51ddc435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2333fffe9d433c" /><Relationship Type="http://schemas.openxmlformats.org/officeDocument/2006/relationships/notesSlide" Target="/ppt/notesSlides/notesSlide7.xml" Id="R5fb71d9e186e40c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8bc82b640c48af" /><Relationship Type="http://schemas.openxmlformats.org/officeDocument/2006/relationships/notesSlide" Target="/ppt/notesSlides/notesSlide8.xml" Id="R290c72b934d145e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93fc9bb36c4a81" /><Relationship Type="http://schemas.openxmlformats.org/officeDocument/2006/relationships/notesSlide" Target="/ppt/notesSlides/notesSlide9.xml" Id="R0431b71b54fc450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6636ceb47f41a7" /><Relationship Type="http://schemas.openxmlformats.org/officeDocument/2006/relationships/notesSlide" Target="/ppt/notesSlides/notesSlide10.xml" Id="Re4797d7c1ad2476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0fe8f1b7454e8c" /><Relationship Type="http://schemas.openxmlformats.org/officeDocument/2006/relationships/notesSlide" Target="/ppt/notesSlides/notesSlide11.xml" Id="R501f96fb14634cf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9f589978f74eb0" /><Relationship Type="http://schemas.openxmlformats.org/officeDocument/2006/relationships/notesSlide" Target="/ppt/notesSlides/notesSlide12.xml" Id="Rbaf07d8e010e485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0aaa791cc14220" /><Relationship Type="http://schemas.openxmlformats.org/officeDocument/2006/relationships/notesSlide" Target="/ppt/notesSlides/notesSlide13.xml" Id="R7b0179c173a14b9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43eda9a2c6439e" /><Relationship Type="http://schemas.openxmlformats.org/officeDocument/2006/relationships/notesSlide" Target="/ppt/notesSlides/notesSlide14.xml" Id="Rd695bcb37fa6499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22DF22-D910-41D7-8216-EB1918088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02D3B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02D3B"/>
                </a:solidFill>
                <a:latin typeface="Arial"/>
                <a:ea typeface="Arial"/>
                <a:cs typeface="Arial"/>
              </a:rPr>
              <a:t>RflySim / Real4Real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D2D26E-8E97-4AF7-8E9C-5754B0091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02D3B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02D3B"/>
                </a:solidFill>
                <a:latin typeface="Arial"/>
                <a:ea typeface="Arial"/>
                <a:cs typeface="Arial"/>
              </a:rPr>
              <a:t>Preparation and blockers · 8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3C0E66-CFB5-41B0-9316-F65201205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344955"/>
                </a:solidFill>
                <a:latin typeface="Arial"/>
                <a:ea typeface="Arial"/>
                <a:cs typeface="Arial"/>
              </a:rPr>
              <a:t>Candidate: dynamics/control host and native visual baseline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451B92-302D-4EAD-A580-727D4CC50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05275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344955"/>
                </a:solidFill>
                <a:latin typeface="Arial"/>
                <a:ea typeface="Arial"/>
                <a:cs typeface="Arial"/>
              </a:rPr>
              <a:t>A, B and coupled capture pending · C blocked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D92DB4-2F35-48AC-BAFF-9788F92BC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06C7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6C75"/>
                </a:solidFill>
                <a:latin typeface="Arial"/>
                <a:ea typeface="Arial"/>
                <a:cs typeface="Arial"/>
              </a:rPr>
              <a:t>Preparation only · no measured simulator results   |   1 / 14</a:t>
            </a:r>
          </a:p>
        </p:txBody>
      </p:sp>
    </p:spTree>
    <p:extLst>
      <p:ext uri="{BB962C8B-B14F-4D97-AF65-F5344CB8AC3E}">
        <p14:creationId xmlns:p14="http://schemas.microsoft.com/office/powerpoint/2010/main" val="15777118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69A422-94AC-42FB-BEAD-AE4E5947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D3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D3B"/>
                </a:solidFill>
                <a:latin typeface="Arial"/>
                <a:ea typeface="Arial"/>
                <a:cs typeface="Arial"/>
              </a:rPr>
              <a:t>Real4Real inputs and target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0B6D52-E1BC-47B1-A752-D53FB128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D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D3B"/>
                </a:solidFill>
                <a:latin typeface="Arial"/>
                <a:ea typeface="Arial"/>
                <a:cs typeface="Arial"/>
              </a:rPr>
              <a:t>Real images + calibrated poses → reconstruction → scene representation → new trajectories → observations → downstream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5097F7-643E-4FAF-A812-E690C8606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44955"/>
                </a:solidFill>
                <a:latin typeface="Arial"/>
                <a:ea typeface="Arial"/>
                <a:cs typeface="Arial"/>
              </a:rPr>
              <a:t>Residential, suburban and campus environments below 100 m; horizontal and vertical camera motion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BBA812-1C3A-4777-9C42-01B9A800C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05275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44955"/>
                </a:solidFill>
                <a:latin typeface="Arial"/>
                <a:ea typeface="Arial"/>
                <a:cs typeface="Arial"/>
              </a:rPr>
              <a:t>Missing: imagery, calibration, reconstruction, split, held-out views, downstream model and approved fidelity thresholds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53B08F-398A-43F4-B92C-911333AEF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06C7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6C75"/>
                </a:solidFill>
                <a:latin typeface="Arial"/>
                <a:ea typeface="Arial"/>
                <a:cs typeface="Arial"/>
              </a:rPr>
              <a:t>Preparation only · no measured simulator results   |   2 / 14</a:t>
            </a:r>
          </a:p>
        </p:txBody>
      </p:sp>
    </p:spTree>
    <p:extLst>
      <p:ext uri="{BB962C8B-B14F-4D97-AF65-F5344CB8AC3E}">
        <p14:creationId xmlns:p14="http://schemas.microsoft.com/office/powerpoint/2010/main" val="1655108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6EBBED-28E4-42C2-8D7D-6DFBDBF7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D3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D3B"/>
                </a:solidFill>
                <a:latin typeface="Arial"/>
                <a:ea typeface="Arial"/>
                <a:cs typeface="Arial"/>
              </a:rPr>
              <a:t>Component ownership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680BA9-2A6C-4495-B244-BDEE84BCC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D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D3B"/>
                </a:solidFill>
                <a:latin typeface="Arial"/>
                <a:ea typeface="Arial"/>
                <a:cs typeface="Arial"/>
              </a:rPr>
              <a:t>Python setpoints → PX4 SITL → actuator commands → CopterSim dynamics and simulated sensors → PX4 estimates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A7C523-F60B-46D6-B099-8A4A77B19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44955"/>
                </a:solidFill>
                <a:latin typeface="Arial"/>
                <a:ea typeface="Arial"/>
                <a:cs typeface="Arial"/>
              </a:rPr>
              <a:t>CopterSim truth → UE4 RflySim3D → mounted camera observations; UE supplies scene collisions and visual depth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2B06EE-1E86-400B-966C-0548ED233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05275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44955"/>
                </a:solidFill>
                <a:latin typeface="Arial"/>
                <a:ea typeface="Arial"/>
                <a:cs typeface="Arial"/>
              </a:rPr>
              <a:t>MATLAB/Simulink authors models. Standalone installer may run the precompiled stock model without model compilation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A459E4-61D6-43C9-AB72-3520CF30C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06C7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6C75"/>
                </a:solidFill>
                <a:latin typeface="Arial"/>
                <a:ea typeface="Arial"/>
                <a:cs typeface="Arial"/>
              </a:rPr>
              <a:t>Preparation only · no measured simulator results   |   3 / 14</a:t>
            </a:r>
          </a:p>
        </p:txBody>
      </p:sp>
    </p:spTree>
    <p:extLst>
      <p:ext uri="{BB962C8B-B14F-4D97-AF65-F5344CB8AC3E}">
        <p14:creationId xmlns:p14="http://schemas.microsoft.com/office/powerpoint/2010/main" val="12715919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C63E8A-C1BA-4049-848C-DDECE7782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D3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D3B"/>
                </a:solidFill>
                <a:latin typeface="Arial"/>
                <a:ea typeface="Arial"/>
                <a:cs typeface="Arial"/>
              </a:rPr>
              <a:t>Release and host gate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1475FF-7C77-402B-A43E-38505FAEB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D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D3B"/>
                </a:solidFill>
                <a:latin typeface="Arial"/>
                <a:ea typeface="Arial"/>
                <a:cs typeface="Arial"/>
              </a:rPr>
              <a:t>Official page names RflySimToolchain-v5.01-20260831.iso. Download link requires contact details; ISO URL, bytes, hash and EULA are missing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77830B-3781-4806-8876-28B1AB134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44955"/>
                </a:solidFill>
                <a:latin typeface="Arial"/>
                <a:ea typeface="Arial"/>
                <a:cs typeface="Arial"/>
              </a:rPr>
              <a:t>CopterSim lists Linux support. A complete licensed Free Linux visual and camera release has not been established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F59C27-2B8C-43B3-B9FB-006A35E5C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05275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44955"/>
                </a:solidFill>
                <a:latin typeface="Arial"/>
                <a:ea typeface="Arial"/>
                <a:cs typeface="Arial"/>
              </a:rPr>
              <a:t>Candidate supported path: Windows native graphics + Python + CopterSim; PX4 in default WSL1 RflySim-20.04. Desktop, privilege and reboot access unverified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D32778-07DF-49CE-8E99-3B600522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06C7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6C75"/>
                </a:solidFill>
                <a:latin typeface="Arial"/>
                <a:ea typeface="Arial"/>
                <a:cs typeface="Arial"/>
              </a:rPr>
              <a:t>Preparation only · no measured simulator results   |   4 / 14</a:t>
            </a:r>
          </a:p>
        </p:txBody>
      </p:sp>
    </p:spTree>
    <p:extLst>
      <p:ext uri="{BB962C8B-B14F-4D97-AF65-F5344CB8AC3E}">
        <p14:creationId xmlns:p14="http://schemas.microsoft.com/office/powerpoint/2010/main" val="12043568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89787F-6DCC-4C65-B429-4F827509E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D3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D3B"/>
                </a:solidFill>
                <a:latin typeface="Arial"/>
                <a:ea typeface="Arial"/>
                <a:cs typeface="Arial"/>
              </a:rPr>
              <a:t>Resources and access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B1B330-7887-4B58-8862-C53E6084C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D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D3B"/>
                </a:solidFill>
                <a:latin typeface="Arial"/>
                <a:ea typeface="Arial"/>
                <a:cs typeface="Arial"/>
              </a:rPr>
              <a:t>Provisional RTX A5000 ×1, 24 GB: expected sufficiency for one drone and one RGB camera is an estimate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BA13E7-ABC2-48EE-8C16-0325D34B1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44955"/>
                </a:solidFill>
                <a:latin typeface="Arial"/>
                <a:ea typeface="Arial"/>
                <a:cs typeface="Arial"/>
              </a:rPr>
              <a:t>Planning targets: recent 8-core CPU, 32 GB RAM, 500 GB disk / 300 GB free. Actual allocation, driver, OS and total price unknown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0661D5-FCF0-425F-86D7-2F293DC6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05275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44955"/>
                </a:solidFill>
                <a:latin typeface="Arial"/>
                <a:ea typeface="Arial"/>
                <a:cs typeface="Arial"/>
              </a:rPr>
              <a:t>Supplied SSH candidate parsed; key already protected. No connection made. SSH access does not establish a GPU-backed Windows desktop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5ED663-8212-44F1-8B6E-4F0DBE47D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06C7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6C75"/>
                </a:solidFill>
                <a:latin typeface="Arial"/>
                <a:ea typeface="Arial"/>
                <a:cs typeface="Arial"/>
              </a:rPr>
              <a:t>Preparation only · no measured simulator results   |   5 / 14</a:t>
            </a:r>
          </a:p>
        </p:txBody>
      </p:sp>
    </p:spTree>
    <p:extLst>
      <p:ext uri="{BB962C8B-B14F-4D97-AF65-F5344CB8AC3E}">
        <p14:creationId xmlns:p14="http://schemas.microsoft.com/office/powerpoint/2010/main" val="16797147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72C5B7-B4B0-4188-9B74-4163E3274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D3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D3B"/>
                </a:solidFill>
                <a:latin typeface="Arial"/>
                <a:ea typeface="Arial"/>
                <a:cs typeface="Arial"/>
              </a:rPr>
              <a:t>Frozen B route and criteria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53D9E1-9D99-4798-BC9A-E4DD7B59A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D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D3B"/>
                </a:solidFill>
                <a:latin typeface="Arial"/>
                <a:ea typeface="Arial"/>
                <a:cs typeface="Arial"/>
              </a:rPr>
              <a:t>NED metres: origin → (0,0,−2) → (2,0,−2) → (2,2,−2) → (0,0,−2) → land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6B03CE-DDBC-49FB-808F-C1E0D8EE0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44955"/>
                </a:solidFill>
                <a:latin typeface="Arial"/>
                <a:ea typeface="Arial"/>
                <a:cs typeface="Arial"/>
              </a:rPr>
              <a:t>Position error ≤0.25 m for a continuous 2 s dwell at every leg. Target setpoint rate 10 Hz; 75 s flight and separate 15 s cleanup watchdog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5A93B4-85F8-47B1-8E66-CCC6722B8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05275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44955"/>
                </a:solidFill>
                <a:latin typeface="Arial"/>
                <a:ea typeface="Arial"/>
                <a:cs typeface="Arial"/>
              </a:rPr>
              <a:t>Minimum integration: takeoff, two waypoint transitions, landing/disarming. Full completion: every prescribed leg meets tolerance/dwell and confirms landing/disarming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AE2915-C864-4C20-9FC5-5D9DB3DC5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06C7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6C75"/>
                </a:solidFill>
                <a:latin typeface="Arial"/>
                <a:ea typeface="Arial"/>
                <a:cs typeface="Arial"/>
              </a:rPr>
              <a:t>Preparation only · no measured simulator results   |   6 / 14</a:t>
            </a:r>
          </a:p>
        </p:txBody>
      </p:sp>
    </p:spTree>
    <p:extLst>
      <p:ext uri="{BB962C8B-B14F-4D97-AF65-F5344CB8AC3E}">
        <p14:creationId xmlns:p14="http://schemas.microsoft.com/office/powerpoint/2010/main" val="7136153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E1E659-67ED-42DE-A041-3215F8B08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D3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D3B"/>
                </a:solidFill>
                <a:latin typeface="Arial"/>
                <a:ea typeface="Arial"/>
                <a:cs typeface="Arial"/>
              </a:rPr>
              <a:t>A camera calibration and replay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A1F402-0398-4EE8-BE3F-4DF0E74A8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D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D3B"/>
                </a:solidFill>
                <a:latin typeface="Arial"/>
                <a:ea typeface="Arial"/>
                <a:cs typeface="Arial"/>
              </a:rPr>
              <a:t>Seven desired camera poses: baseline at (0,0,−2); +1 m north; +1 m east; 1 m higher; yaw +15°; pitch +10°; baseline again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6ED10E-FB1E-4728-A3BD-94309156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44955"/>
                </a:solidFill>
                <a:latin typeface="Arial"/>
                <a:ea typeface="Arial"/>
                <a:cs typeface="Arial"/>
              </a:rPr>
              <a:t>640×480 RGB, requested 10 Hz, 21 s sequence replayed twice; 5 s warmup. Short rate test: 30 s after 5 s warmup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1725F8-D8C9-4AE8-B5B0-B1E52EBB8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05275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44955"/>
                </a:solidFill>
                <a:latin typeface="Arial"/>
                <a:ea typeface="Arial"/>
                <a:cs typeface="Arial"/>
              </a:rPr>
              <a:t>Repeatability: 0.02 m and 1°. Known-geometry reprojection: 2% of image dimension. Clearance, geometry, actual pose and clock mapping still block execution freeze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594185-1E86-403D-B7F7-ED9524273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06C7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6C75"/>
                </a:solidFill>
                <a:latin typeface="Arial"/>
                <a:ea typeface="Arial"/>
                <a:cs typeface="Arial"/>
              </a:rPr>
              <a:t>Preparation only · no measured simulator results   |   7 / 14</a:t>
            </a:r>
          </a:p>
        </p:txBody>
      </p:sp>
    </p:spTree>
    <p:extLst>
      <p:ext uri="{BB962C8B-B14F-4D97-AF65-F5344CB8AC3E}">
        <p14:creationId xmlns:p14="http://schemas.microsoft.com/office/powerpoint/2010/main" val="788932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A723F3-C1F9-46D3-8E37-BF97ADFB9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D3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D3B"/>
                </a:solidFill>
                <a:latin typeface="Arial"/>
                <a:ea typeface="Arial"/>
                <a:cs typeface="Arial"/>
              </a:rPr>
              <a:t>Flight-to-observation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748213-29C5-4C19-AFC0-F21B40768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D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D3B"/>
                </a:solidFill>
                <a:latin typeface="Arial"/>
                <a:ea typeface="Arial"/>
                <a:cs typeface="Arial"/>
              </a:rPr>
              <a:t>Commands → PX4 → dynamics → achieved simulator state → actual camera pose → timestamped RGB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22833C-8C2C-4A41-8511-608BFC2E8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44955"/>
                </a:solidFill>
                <a:latin typeface="Arial"/>
                <a:ea typeface="Arial"/>
                <a:cs typeface="Arial"/>
              </a:rPr>
              <a:t>B initial run without capture; reset and repeat the same route once with mounted capture if supported. Keep image/GPU/file workers separate from control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365F2D-D8BD-49A9-A7FD-D04A00135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05275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44955"/>
                </a:solidFill>
                <a:latin typeface="Arial"/>
                <a:ea typeface="Arial"/>
                <a:cs typeface="Arial"/>
              </a:rPr>
              <a:t>Record source clocks and receiver clocks, pose brackets, offsets, uncertainty, stale frames, gaps and missed deadlines. Reference poses and PX4 estimates cannot become camera truth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1AD727-7BFE-4DF0-94B8-131AB0F9A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06C7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6C75"/>
                </a:solidFill>
                <a:latin typeface="Arial"/>
                <a:ea typeface="Arial"/>
                <a:cs typeface="Arial"/>
              </a:rPr>
              <a:t>Preparation only · no measured simulator results   |   8 / 14</a:t>
            </a:r>
          </a:p>
        </p:txBody>
      </p:sp>
    </p:spTree>
    <p:extLst>
      <p:ext uri="{BB962C8B-B14F-4D97-AF65-F5344CB8AC3E}">
        <p14:creationId xmlns:p14="http://schemas.microsoft.com/office/powerpoint/2010/main" val="90341023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31E42A-488D-42BF-8614-73F5EBF2D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D3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D3B"/>
                </a:solidFill>
                <a:latin typeface="Arial"/>
                <a:ea typeface="Arial"/>
                <a:cs typeface="Arial"/>
              </a:rPr>
              <a:t>Runner findings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9DA532-B840-4677-963C-90AD48386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D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D3B"/>
                </a:solidFill>
                <a:latin typeface="Arial"/>
                <a:ea typeface="Arial"/>
                <a:cs typeface="Arial"/>
              </a:rPr>
              <a:t>Recovered runner preserves evidence but cannot enforce deadlines independently of blocking SDK calls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19124D-0F4D-4633-A51F-46808A380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44955"/>
                </a:solidFill>
                <a:latin typeface="Arial"/>
                <a:ea typeface="Arial"/>
                <a:cs typeface="Arial"/>
              </a:rPr>
              <a:t>PNG saving and GPU queries share the control loop; cached frames may be stale. No waypoint dwell or confirmed touchdown/disarm pass is implemented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A5F2EE-20B3-4202-BA4C-A3E7D76CA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05275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44955"/>
                </a:solidFill>
                <a:latin typeface="Arial"/>
                <a:ea typeface="Arial"/>
                <a:cs typeface="Arial"/>
              </a:rPr>
              <a:t>Current entry point validates preparation and verifies hashes; simulator execution is disabled. Installed adapter, watchdog and capture isolation remain pending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93AC0A-40DC-4936-BFFE-D76671202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06C7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6C75"/>
                </a:solidFill>
                <a:latin typeface="Arial"/>
                <a:ea typeface="Arial"/>
                <a:cs typeface="Arial"/>
              </a:rPr>
              <a:t>Preparation only · no measured simulator results   |   9 / 14</a:t>
            </a:r>
          </a:p>
        </p:txBody>
      </p:sp>
    </p:spTree>
    <p:extLst>
      <p:ext uri="{BB962C8B-B14F-4D97-AF65-F5344CB8AC3E}">
        <p14:creationId xmlns:p14="http://schemas.microsoft.com/office/powerpoint/2010/main" val="77514579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CC1499-EE56-47AD-A431-79C1F7364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D3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D3B"/>
                </a:solidFill>
                <a:latin typeface="Arial"/>
                <a:ea typeface="Arial"/>
                <a:cs typeface="Arial"/>
              </a:rPr>
              <a:t>Capture import and fidelity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0A9DC1-B65C-416E-8185-8F03AB226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D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D3B"/>
                </a:solidFill>
                <a:latin typeface="Arial"/>
                <a:ea typeface="Arial"/>
                <a:cs typeface="Arial"/>
              </a:rPr>
              <a:t>Direct real images + poses: no inspected reconstruction loader established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3E35D3-80BA-45FE-95AE-3502993B3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44955"/>
                </a:solidFill>
                <a:latin typeface="Arial"/>
                <a:ea typeface="Arial"/>
                <a:cs typeface="Arial"/>
              </a:rPr>
              <a:t>Mesh route is documented through UE import, baking/cooking and XML MeshPath indexing. It is not a generic runtime OBJ/PLY loader; Free eligibility remains unresolved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2BAC61-13E8-44CD-83A9-EA8714B1C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05275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44955"/>
                </a:solidFill>
                <a:latin typeface="Arial"/>
                <a:ea typeface="Arial"/>
                <a:cs typeface="Arial"/>
              </a:rPr>
              <a:t>Gaussian loader: no supported path established. Sparse capture coverage, altitude extrapolation and held-out fidelity remain blocked by missing calibrated assets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BB2A20-70AB-407A-A6A1-F7E69796F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06C7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6C75"/>
                </a:solidFill>
                <a:latin typeface="Arial"/>
                <a:ea typeface="Arial"/>
                <a:cs typeface="Arial"/>
              </a:rPr>
              <a:t>Preparation only · no measured simulator results   |   10 / 14</a:t>
            </a:r>
          </a:p>
        </p:txBody>
      </p:sp>
    </p:spTree>
    <p:extLst>
      <p:ext uri="{BB962C8B-B14F-4D97-AF65-F5344CB8AC3E}">
        <p14:creationId xmlns:p14="http://schemas.microsoft.com/office/powerpoint/2010/main" val="153755558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2AF2C3-6910-4D1A-B203-5F41A8285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D3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D3B"/>
                </a:solidFill>
                <a:latin typeface="Arial"/>
                <a:ea typeface="Arial"/>
                <a:cs typeface="Arial"/>
              </a:rPr>
              <a:t>Gaussian renderer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606A8B-33A3-4B4C-ADEB-219B95CDA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D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D3B"/>
                </a:solidFill>
                <a:latin typeface="Arial"/>
                <a:ea typeface="Arial"/>
                <a:cs typeface="Arial"/>
              </a:rPr>
              <a:t>Pose replay exports a route. Native visual replacement changes the renderer. Closed-loop visual control also requires a compatible observation/action consumer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24C398-CF20-4049-802F-AF61C98F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44955"/>
                </a:solidFill>
                <a:latin typeface="Arial"/>
                <a:ea typeface="Arial"/>
                <a:cs typeface="Arial"/>
              </a:rPr>
              <a:t>A separate renderer using CopterSim truth and calibrated extrinsics is inferred feasible; native image injection, reset/step and clock ownership are unresolved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D520FF-3784-4EC1-B82A-6F8F33E63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05275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44955"/>
                </a:solidFill>
                <a:latin typeface="Arial"/>
                <a:ea typeface="Arial"/>
                <a:cs typeface="Arial"/>
              </a:rPr>
              <a:t>UE collision and depth services must be retained or replaced with independently validated geometry. Implementation is outside preparation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EDAC95-410F-482C-B931-CBB2F8538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06C7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6C75"/>
                </a:solidFill>
                <a:latin typeface="Arial"/>
                <a:ea typeface="Arial"/>
                <a:cs typeface="Arial"/>
              </a:rPr>
              <a:t>Preparation only · no measured simulator results   |   11 / 14</a:t>
            </a:r>
          </a:p>
        </p:txBody>
      </p:sp>
    </p:spTree>
    <p:extLst>
      <p:ext uri="{BB962C8B-B14F-4D97-AF65-F5344CB8AC3E}">
        <p14:creationId xmlns:p14="http://schemas.microsoft.com/office/powerpoint/2010/main" val="136276615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7CFD78-6097-47E5-B6D8-288E1A174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D3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D3B"/>
                </a:solidFill>
                <a:latin typeface="Arial"/>
                <a:ea typeface="Arial"/>
                <a:cs typeface="Arial"/>
              </a:rPr>
              <a:t>Policy and task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9F539C-88D8-48C4-AC63-4F5343C3A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D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D3B"/>
                </a:solidFill>
                <a:latin typeface="Arial"/>
                <a:ea typeface="Arial"/>
                <a:cs typeface="Arial"/>
              </a:rPr>
              <a:t>PX4 plus scripted waypoints is a controller, not a released autonomy policy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E8B0BD-DB7E-4380-A757-B9CBF36B3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44955"/>
                </a:solidFill>
                <a:latin typeface="Arial"/>
                <a:ea typeface="Arial"/>
                <a:cs typeface="Arial"/>
              </a:rPr>
              <a:t>RflyArena publishes state-feedback RL weights: 25-dimensional state/error/reference input and throttle/body-rate output. Default-model and task compatibility are not established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3DB75B-8FDD-416C-A7A8-F976C2526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05275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44955"/>
                </a:solidFill>
                <a:latin typeface="Arial"/>
                <a:ea typeface="Arial"/>
                <a:cs typeface="Arial"/>
              </a:rPr>
              <a:t>No compatible R4R visual policy, scene/task or adapter supplied. C remains blocked; no unrelated weights or training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BA55EC-0FDF-48A3-BCAD-F388A844A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06C7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6C75"/>
                </a:solidFill>
                <a:latin typeface="Arial"/>
                <a:ea typeface="Arial"/>
                <a:cs typeface="Arial"/>
              </a:rPr>
              <a:t>Preparation only · no measured simulator results   |   12 / 14</a:t>
            </a:r>
          </a:p>
        </p:txBody>
      </p:sp>
    </p:spTree>
    <p:extLst>
      <p:ext uri="{BB962C8B-B14F-4D97-AF65-F5344CB8AC3E}">
        <p14:creationId xmlns:p14="http://schemas.microsoft.com/office/powerpoint/2010/main" val="97176714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8E40C5-589E-4782-A592-26E9359CB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D3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D3B"/>
                </a:solidFill>
                <a:latin typeface="Arial"/>
                <a:ea typeface="Arial"/>
                <a:cs typeface="Arial"/>
              </a:rPr>
              <a:t>Applicability and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34D381-1F77-41CD-AC3C-5ACCE9571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D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D3B"/>
                </a:solidFill>
                <a:latin typeface="Arial"/>
                <a:ea typeface="Arial"/>
                <a:cs typeface="Arial"/>
              </a:rPr>
              <a:t>Indoor: candidate control/sensor integration. Outdoor residential/campus: candidate mesh baseline; reconstruction and novel-view accuracy unresolved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DAA48E-21DD-4172-B154-E1AAAF0A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44955"/>
                </a:solidFill>
                <a:latin typeface="Arial"/>
                <a:ea typeface="Arial"/>
                <a:cs typeface="Arial"/>
              </a:rPr>
              <a:t>Sparse physical content and sparse captures need different tests. Racing needs gate perception, high-speed dynamics and collision timing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5152DA-7FED-4376-AD88-657B8DB2D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05275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44955"/>
                </a:solidFill>
                <a:latin typeface="Arial"/>
                <a:ea typeface="Arial"/>
                <a:cs typeface="Arial"/>
              </a:rPr>
              <a:t>Defer renderer adoption. Retain RflySim as a candidate dynamics/control host and native visual baseline, subject to host/release/SDK gates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B3DA54-8D01-4A61-9577-B67AF1C5D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06C7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6C75"/>
                </a:solidFill>
                <a:latin typeface="Arial"/>
                <a:ea typeface="Arial"/>
                <a:cs typeface="Arial"/>
              </a:rPr>
              <a:t>Preparation only · no measured simulator results   |   13 / 14</a:t>
            </a:r>
          </a:p>
        </p:txBody>
      </p:sp>
    </p:spTree>
    <p:extLst>
      <p:ext uri="{BB962C8B-B14F-4D97-AF65-F5344CB8AC3E}">
        <p14:creationId xmlns:p14="http://schemas.microsoft.com/office/powerpoint/2010/main" val="138330277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F9075B-2057-406F-865E-52060E84A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D3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D3B"/>
                </a:solidFill>
                <a:latin typeface="Arial"/>
                <a:ea typeface="Arial"/>
                <a:cs typeface="Arial"/>
              </a:rPr>
              <a:t>Learning and preservation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1F99B5-FCBB-4A03-AAB0-B2E6D0488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D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D3B"/>
                </a:solidFill>
                <a:latin typeface="Arial"/>
                <a:ea typeface="Arial"/>
                <a:cs typeface="Arial"/>
              </a:rPr>
              <a:t>Read SITLRun.bat, PX4MavCtrlV4.py, VisionCaptureApi.py, UE4CtrlAPI.py, model/scene XML and PX4 parameters: trace process ownership, NED/FRD, units, timestamps and modes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5EE154-2091-41E4-9BD6-77F71589A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44955"/>
                </a:solidFill>
                <a:latin typeface="Arial"/>
                <a:ea typeface="Arial"/>
                <a:cs typeface="Arial"/>
              </a:rPr>
              <a:t>One writer on audit/rflysim; small evidence/deck in Git, bulk artifacts retained separately. Bundle relay can replace remote GitHub authentication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D3A6BD-44B9-47CB-8C76-20B2EAF89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05275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95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44955"/>
                </a:solidFill>
                <a:latin typeface="Arial"/>
                <a:ea typeface="Arial"/>
                <a:cs typeface="Arial"/>
              </a:rPr>
              <a:t>2 h active setup/debug and at most 2 repairs. Test transfer first; checkpoint during work/failure, finalize hashes and verify local media. Never terminate the instance automatically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705369-20DB-4C3D-89C6-CE66F9690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06C7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6C75"/>
                </a:solidFill>
                <a:latin typeface="Arial"/>
                <a:ea typeface="Arial"/>
                <a:cs typeface="Arial"/>
              </a:rPr>
              <a:t>Preparation only · no measured simulator results   |   14 / 14</a:t>
            </a:r>
          </a:p>
        </p:txBody>
      </p:sp>
    </p:spTree>
    <p:extLst>
      <p:ext uri="{BB962C8B-B14F-4D97-AF65-F5344CB8AC3E}">
        <p14:creationId xmlns:p14="http://schemas.microsoft.com/office/powerpoint/2010/main" val="18769036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2026-10-09T01:44:21.5830000Z</dcterms:created>
  <dcterms:modified xsi:type="dcterms:W3CDTF">2026-10-09T01:44:21.5830000Z</dcterms:modified>
</coreProperties>
</file>