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37245f7b1d45db" /><Relationship Type="http://schemas.openxmlformats.org/officeDocument/2006/relationships/extended-properties" Target="/docProps/app.xml" Id="R06cd7da093624e67" /><Relationship Type="http://schemas.openxmlformats.org/officeDocument/2006/relationships/officeDocument" Target="/ppt/presentation.xml" Id="R61035eaa1fc248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e403f3796f4c82"/>
  </p:sldMasterIdLst>
  <p:notesMasterIdLst>
    <p:notesMasterId xmlns:r="http://schemas.openxmlformats.org/officeDocument/2006/relationships" r:id="R91aa71e657e24361"/>
  </p:notesMasterIdLst>
  <p:sldIdLst>
    <p:sldId xmlns:r="http://schemas.openxmlformats.org/officeDocument/2006/relationships" id="256" r:id="Rb75b20dc532349c4"/>
    <p:sldId xmlns:r="http://schemas.openxmlformats.org/officeDocument/2006/relationships" id="257" r:id="Ra67c5ca99ff94234"/>
    <p:sldId xmlns:r="http://schemas.openxmlformats.org/officeDocument/2006/relationships" id="258" r:id="R015b6725a3c442a9"/>
    <p:sldId xmlns:r="http://schemas.openxmlformats.org/officeDocument/2006/relationships" id="259" r:id="Rbe9eaba48e9e4841"/>
    <p:sldId xmlns:r="http://schemas.openxmlformats.org/officeDocument/2006/relationships" id="260" r:id="R09a4d33133e94c52"/>
    <p:sldId xmlns:r="http://schemas.openxmlformats.org/officeDocument/2006/relationships" id="261" r:id="R39ae24619ac14603"/>
    <p:sldId xmlns:r="http://schemas.openxmlformats.org/officeDocument/2006/relationships" id="262" r:id="R253550a0ff894cc2"/>
    <p:sldId xmlns:r="http://schemas.openxmlformats.org/officeDocument/2006/relationships" id="263" r:id="Rda4577cb44aa4ffd"/>
    <p:sldId xmlns:r="http://schemas.openxmlformats.org/officeDocument/2006/relationships" id="264" r:id="R83b5adf84bd24327"/>
    <p:sldId xmlns:r="http://schemas.openxmlformats.org/officeDocument/2006/relationships" id="265" r:id="R2efaef4da56d476d"/>
    <p:sldId xmlns:r="http://schemas.openxmlformats.org/officeDocument/2006/relationships" id="266" r:id="R281d95ddb9ec4f3c"/>
    <p:sldId xmlns:r="http://schemas.openxmlformats.org/officeDocument/2006/relationships" id="267" r:id="Red7ec622893440eb"/>
    <p:sldId xmlns:r="http://schemas.openxmlformats.org/officeDocument/2006/relationships" id="268" r:id="R5f7d8c5bd65e4283"/>
    <p:sldId xmlns:r="http://schemas.openxmlformats.org/officeDocument/2006/relationships" id="269" r:id="R1af4a865f0bb4c85"/>
    <p:sldId xmlns:r="http://schemas.openxmlformats.org/officeDocument/2006/relationships" id="270" r:id="R39e4051566b044cd"/>
    <p:sldId xmlns:r="http://schemas.openxmlformats.org/officeDocument/2006/relationships" id="271" r:id="R4663528f76f6435a"/>
    <p:sldId xmlns:r="http://schemas.openxmlformats.org/officeDocument/2006/relationships" id="272" r:id="Re9f0a9a7d9e441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4e3ae08e5c4d23" /><Relationship Type="http://schemas.openxmlformats.org/officeDocument/2006/relationships/slideMaster" Target="/ppt/slideMasters/slideMaster1.xml" Id="R36e403f3796f4c82" /><Relationship Type="http://schemas.openxmlformats.org/officeDocument/2006/relationships/notesMaster" Target="/ppt/notesMasters/notesMaster1.xml" Id="R91aa71e657e24361" /><Relationship Type="http://schemas.openxmlformats.org/officeDocument/2006/relationships/presProps" Target="/ppt/presProps.xml" Id="Ree47fe33be244440" /><Relationship Type="http://schemas.openxmlformats.org/officeDocument/2006/relationships/tableStyles" Target="/ppt/tableStyles.xml" Id="R7268b7a2683e493a" /><Relationship Type="http://schemas.openxmlformats.org/officeDocument/2006/relationships/slide" Target="/ppt/slides/slide1.xml" Id="Rb75b20dc532349c4" /><Relationship Type="http://schemas.openxmlformats.org/officeDocument/2006/relationships/slide" Target="/ppt/slides/slide2.xml" Id="Ra67c5ca99ff94234" /><Relationship Type="http://schemas.openxmlformats.org/officeDocument/2006/relationships/slide" Target="/ppt/slides/slide3.xml" Id="R015b6725a3c442a9" /><Relationship Type="http://schemas.openxmlformats.org/officeDocument/2006/relationships/slide" Target="/ppt/slides/slide4.xml" Id="Rbe9eaba48e9e4841" /><Relationship Type="http://schemas.openxmlformats.org/officeDocument/2006/relationships/slide" Target="/ppt/slides/slide5.xml" Id="R09a4d33133e94c52" /><Relationship Type="http://schemas.openxmlformats.org/officeDocument/2006/relationships/slide" Target="/ppt/slides/slide6.xml" Id="R39ae24619ac14603" /><Relationship Type="http://schemas.openxmlformats.org/officeDocument/2006/relationships/slide" Target="/ppt/slides/slide7.xml" Id="R253550a0ff894cc2" /><Relationship Type="http://schemas.openxmlformats.org/officeDocument/2006/relationships/slide" Target="/ppt/slides/slide8.xml" Id="Rda4577cb44aa4ffd" /><Relationship Type="http://schemas.openxmlformats.org/officeDocument/2006/relationships/slide" Target="/ppt/slides/slide9.xml" Id="R83b5adf84bd24327" /><Relationship Type="http://schemas.openxmlformats.org/officeDocument/2006/relationships/slide" Target="/ppt/slides/slide10.xml" Id="R2efaef4da56d476d" /><Relationship Type="http://schemas.openxmlformats.org/officeDocument/2006/relationships/slide" Target="/ppt/slides/slide11.xml" Id="R281d95ddb9ec4f3c" /><Relationship Type="http://schemas.openxmlformats.org/officeDocument/2006/relationships/slide" Target="/ppt/slides/slide12.xml" Id="Red7ec622893440eb" /><Relationship Type="http://schemas.openxmlformats.org/officeDocument/2006/relationships/slide" Target="/ppt/slides/slide13.xml" Id="R5f7d8c5bd65e4283" /><Relationship Type="http://schemas.openxmlformats.org/officeDocument/2006/relationships/slide" Target="/ppt/slides/slide14.xml" Id="R1af4a865f0bb4c85" /><Relationship Type="http://schemas.openxmlformats.org/officeDocument/2006/relationships/slide" Target="/ppt/slides/slide15.xml" Id="R39e4051566b044cd" /><Relationship Type="http://schemas.openxmlformats.org/officeDocument/2006/relationships/slide" Target="/ppt/slides/slide16.xml" Id="R4663528f76f6435a" /><Relationship Type="http://schemas.openxmlformats.org/officeDocument/2006/relationships/slide" Target="/ppt/slides/slide17.xml" Id="Re9f0a9a7d9e441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f664ab556f4a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121da3423d49b2" /><Relationship Type="http://schemas.openxmlformats.org/officeDocument/2006/relationships/notesMaster" Target="/ppt/notesMasters/notesMaster1.xml" Id="R4aa4bd581d5c46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2a8ac5ec5b4e36" /><Relationship Type="http://schemas.openxmlformats.org/officeDocument/2006/relationships/notesMaster" Target="/ppt/notesMasters/notesMaster1.xml" Id="Rbd4bdc00d18644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7fd141f1554c99" /><Relationship Type="http://schemas.openxmlformats.org/officeDocument/2006/relationships/notesMaster" Target="/ppt/notesMasters/notesMaster1.xml" Id="R15fce087de3140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0a2a23d7244d9a" /><Relationship Type="http://schemas.openxmlformats.org/officeDocument/2006/relationships/notesMaster" Target="/ppt/notesMasters/notesMaster1.xml" Id="R8062c74cfad54a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aa8fb2cde14772" /><Relationship Type="http://schemas.openxmlformats.org/officeDocument/2006/relationships/notesMaster" Target="/ppt/notesMasters/notesMaster1.xml" Id="R45852ccefe124a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c23a7025874f86" /><Relationship Type="http://schemas.openxmlformats.org/officeDocument/2006/relationships/notesMaster" Target="/ppt/notesMasters/notesMaster1.xml" Id="R7191e272331940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b205fab7b64a48" /><Relationship Type="http://schemas.openxmlformats.org/officeDocument/2006/relationships/notesMaster" Target="/ppt/notesMasters/notesMaster1.xml" Id="R92732bd1a04645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7c8bd800e9469c" /><Relationship Type="http://schemas.openxmlformats.org/officeDocument/2006/relationships/notesMaster" Target="/ppt/notesMasters/notesMaster1.xml" Id="Refaea6c72bf044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012c6b6b9c430a" /><Relationship Type="http://schemas.openxmlformats.org/officeDocument/2006/relationships/notesMaster" Target="/ppt/notesMasters/notesMaster1.xml" Id="Rf77be3e010dd49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88b5eab728419b" /><Relationship Type="http://schemas.openxmlformats.org/officeDocument/2006/relationships/notesMaster" Target="/ppt/notesMasters/notesMaster1.xml" Id="Ref5257d0d8474d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bcdef9761b4dc8" /><Relationship Type="http://schemas.openxmlformats.org/officeDocument/2006/relationships/notesMaster" Target="/ppt/notesMasters/notesMaster1.xml" Id="R26dc7de310594f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0f80a030f543c6" /><Relationship Type="http://schemas.openxmlformats.org/officeDocument/2006/relationships/notesMaster" Target="/ppt/notesMasters/notesMaster1.xml" Id="R95db9fe532e842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1230ecb50a44e0" /><Relationship Type="http://schemas.openxmlformats.org/officeDocument/2006/relationships/notesMaster" Target="/ppt/notesMasters/notesMaster1.xml" Id="Rea0c32c98fea45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07a1ecdeab46b5" /><Relationship Type="http://schemas.openxmlformats.org/officeDocument/2006/relationships/notesMaster" Target="/ppt/notesMasters/notesMaster1.xml" Id="Rcbb4a863048b4d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53361dd3ed4cd7" /><Relationship Type="http://schemas.openxmlformats.org/officeDocument/2006/relationships/notesMaster" Target="/ppt/notesMasters/notesMaster1.xml" Id="R58ec5d18bb064e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634cca7d534edc" /><Relationship Type="http://schemas.openxmlformats.org/officeDocument/2006/relationships/notesMaster" Target="/ppt/notesMasters/notesMaster1.xml" Id="R4368da89b1c247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a55da7b5874be7" /><Relationship Type="http://schemas.openxmlformats.org/officeDocument/2006/relationships/notesMaster" Target="/ppt/notesMasters/notesMaster1.xml" Id="R4fe92ff3412047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Updated from preserved v2. Sources: original runs, focused-validation.md and closeout recovery/dependency records. No additional GPU experiment was started for this update.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context: docs/r4r-audit-context.md, 2026-10-08. No approved AirLab dataset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Microsoft AirSim source commit 96235148a332fe7cb3d3525a0720e26faaca99e0; Linux Blocks v1.8.1 release ZIP SHA-256 563e1da1b5d7303b9405c8736243ea92ab0a011b96a561f26f17563d105a404f. See docs/unreal/sources.md.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ue-20261008T215319Z-a-5fe9b7c3; source-manifested local artifacts. 640x480; requested/actual rig and response camera centers matched to recorded precision. Image contact: figures/rgb-contact.png. A is not flight.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ue-20261008T232215Z-yaw-6b9a9962. NED fixed center (0,0,-2) m. Five actual RGB/depth pairs. Max orientation error 0.0000136604 degrees, zero position error. Adjacent distinct-yaw RGB mean absolute differences 31.29–43.08/255. Repeat-zero mean difference 0.968/255. RGB/depth timestamps differ 5.249–8.051 ms. Original eight-frame replay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ue-20261008T215319Z-a-5fe9b7c3; all 8 float32 480x640 arrays opened. DepthPlanar is optical-axis distance in metres. Display clipped at 50 m. First frame wall 23.09375 m; ground 6.0195 m; far/sky 13456 m. RGB timestamp only, depth timestamp not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ue-20261008T220451Z-b-a3d4be49, five waypoint_reached events at 0.228–0.248 m error; full run failed the final landing-state check. Actual track from vehicle_trajectory.jsonl. Baseline Ground_6 collision is recorded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ue-20261008T232723Z-land-observed-c1f84706. 177 state samples, descent median polling 4.912 Hz. Ground-relative hover 1.51–1.54 m, downward speed up to 0.290 m/s. New Ground_6 contact at 28.068 s. land RPC true at 28.152 s. Flying persisted through 38.446 s with zero velocity. takeoff RPC false despite observed airborne movement. First isolated apparent pass was rejected because no flight occurred.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from ue-20261008T220451Z-b-a3d4be49/analysis.json, camera.jsonl, actions.jsonl, run.json and GPU JSONL. Sampled GPU usage is whole-GPU nvidia-smi, not process peak. Renderer GPU timing and policy latency were not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IDs and error details are in results/unreal/ and local source-manifested artifacts. Preflight-only failure has a local supervisor log but no remote run directory/source manifest. The landing-check run had new Ground_6 contact after the spawn baseline, so landing cannot be called successful.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Focused control ue-20261008T232833Z-s-light-573e44a0, same author PLY/imported project. Corrected directional light yaw 180, intensity 10. SCS_FINAL_COLOR_LDR, RTF_RGBA8, actual camera (900,0,0) cm yaw180, HFOV60, 640x480. Mesh RGB max226, no saturation. Single splat frame max113, 0.322% pixels above10. These raw PNGs have no brightness enhancement. Initial black and saturated attempts retained. This is one-frame integration evidence, no fidelity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Pinned Italink commit 411f879985719ce69eaaf15d58152c551e2719b1. GaussianSplattingPointCloud.cpp lines204–216 collects/validates f_rest indices. Lines263–271 stores DC-derived color after sRGB-to-linear conversion. GaussianSplattingPointCloud.h lines18–55 has one Color field and no higher-order SH storage. Source URLs: https://github.com/Italink/GaussianSplattingForUnrealEngine/blob/411f879985719ce69eaaf15d58152c551e2719b1/Source/GaussianSplattingRuntime/Private/GaussianSplattingPointCloud.cpp#L204-L271 and Public/GaussianSplattingPointCloud.h#L18-L55. This is static inspection of the selected import path, not a diagnosis of the dark frame.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assessment based on source inspection and current native run. No external sensor adapter or complete UE replacement was built. UE4.27 Blocks is a packaged binary and cannot be edited as the UE5.5 splat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scope and docs/r4r-audit-context.md. Blocks supports integration only. Outdoor scene coverage, novel views, moving objects, depth and collision are separate tests. No policy score or real drone transfer was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Host: user-supplied RunPod Ubuntu 22.04.5, RTX A5000 24 GB, driver 580.178.04, 50 GB cgroup RAM, 120 GB root disk. Epic Linux requirements: https://dev.epicgames.com/documentation/en-us/unreal-engine/linux-development-requirements-for-unreal-engine. Source ZIP and editor sizes are in docs/unreal/assets.md. $0.30/hour was displayed by provider UI, not independently billed.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R4R context; see docs/unreal/handoff.md and sources.md. Source-manifested A/B files reside under ~/Downloads/AL/R4R-Sims/artifacts/unreal/. Public source URLs and commits are in 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Closeout recovery.json rechecks VM-source manifests, archive hashes, compiled plugin and imported project assets. Instance-dependencies.json records a read-only host process/GPU snapshot and inspected task records. TRAVELUAV is active on separate A6000 host 209.137.198.205. RFLY SIM, GRADNAV and AIRSIM are idle phase-1 work. No simulator or GPU consumer was observed on 63.141.33.148:22134. This is an observed dependency check, not a provider-wide guarantee. Instance remains running.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58f94b2094f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6ea2a8c9e94b6f" /><Relationship Type="http://schemas.openxmlformats.org/officeDocument/2006/relationships/slideLayout" Target="/ppt/slideLayouts/slideLayout1.xml" Id="R0858f7000ec24d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58f7000ec24d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e61cd42f3401e" /><Relationship Type="http://schemas.openxmlformats.org/officeDocument/2006/relationships/notesSlide" Target="/ppt/notesSlides/notesSlide1.xml" Id="R88963370bfc940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f508eeef74b55" /><Relationship Type="http://schemas.openxmlformats.org/officeDocument/2006/relationships/notesSlide" Target="/ppt/notesSlides/notesSlide2.xml" Id="Rb3e80ccce1ec4c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0679d28c2451d" /><Relationship Type="http://schemas.openxmlformats.org/officeDocument/2006/relationships/notesSlide" Target="/ppt/notesSlides/notesSlide3.xml" Id="R6610ecebfd964b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a9082466c4de1" /><Relationship Type="http://schemas.openxmlformats.org/officeDocument/2006/relationships/image" Target="/ppt/media/image.png" Id="R50bae39e794b41ea" /><Relationship Type="http://schemas.openxmlformats.org/officeDocument/2006/relationships/notesSlide" Target="/ppt/notesSlides/notesSlide4.xml" Id="Rc9cb6b6dd4d942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ed034fc9745c6" /><Relationship Type="http://schemas.openxmlformats.org/officeDocument/2006/relationships/image" Target="/ppt/media/image2.png" Id="Rf2396f977c064e9f" /><Relationship Type="http://schemas.openxmlformats.org/officeDocument/2006/relationships/notesSlide" Target="/ppt/notesSlides/notesSlide5.xml" Id="R7a8d4646fd3d42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800c705f84e29" /><Relationship Type="http://schemas.openxmlformats.org/officeDocument/2006/relationships/image" Target="/ppt/media/image3.png" Id="Rbf3c5cee72df4b82" /><Relationship Type="http://schemas.openxmlformats.org/officeDocument/2006/relationships/notesSlide" Target="/ppt/notesSlides/notesSlide6.xml" Id="Rf30c4d8cd5f14c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13acdedd441a3" /><Relationship Type="http://schemas.openxmlformats.org/officeDocument/2006/relationships/image" Target="/ppt/media/image4.png" Id="Rbfa71369386f4d35" /><Relationship Type="http://schemas.openxmlformats.org/officeDocument/2006/relationships/notesSlide" Target="/ppt/notesSlides/notesSlide7.xml" Id="R7dc4c9559a7e44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7dbb694e9452c" /><Relationship Type="http://schemas.openxmlformats.org/officeDocument/2006/relationships/image" Target="/ppt/media/image5.png" Id="R68ef070e3dd14595" /><Relationship Type="http://schemas.openxmlformats.org/officeDocument/2006/relationships/notesSlide" Target="/ppt/notesSlides/notesSlide8.xml" Id="R6e12c8aaea7447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e0249f6fa4236" /><Relationship Type="http://schemas.openxmlformats.org/officeDocument/2006/relationships/notesSlide" Target="/ppt/notesSlides/notesSlide9.xml" Id="Raad66ecca9234c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dee6c490b4ddf" /><Relationship Type="http://schemas.openxmlformats.org/officeDocument/2006/relationships/notesSlide" Target="/ppt/notesSlides/notesSlide10.xml" Id="R08d0788fad8b41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372b3c6b14702" /><Relationship Type="http://schemas.openxmlformats.org/officeDocument/2006/relationships/image" Target="/ppt/media/image6.png" Id="R6aaa1de089cf4540" /><Relationship Type="http://schemas.openxmlformats.org/officeDocument/2006/relationships/image" Target="/ppt/media/image7.png" Id="Rb4531fec962a4b31" /><Relationship Type="http://schemas.openxmlformats.org/officeDocument/2006/relationships/notesSlide" Target="/ppt/notesSlides/notesSlide11.xml" Id="R8454d76f170340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e9c06680e4515" /><Relationship Type="http://schemas.openxmlformats.org/officeDocument/2006/relationships/notesSlide" Target="/ppt/notesSlides/notesSlide12.xml" Id="Rc5d468b450ec4f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510331bbc44f5" /><Relationship Type="http://schemas.openxmlformats.org/officeDocument/2006/relationships/notesSlide" Target="/ppt/notesSlides/notesSlide13.xml" Id="R7b8bac21608446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d2b0779294c2e" /><Relationship Type="http://schemas.openxmlformats.org/officeDocument/2006/relationships/notesSlide" Target="/ppt/notesSlides/notesSlide14.xml" Id="R66458493608c46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56dcd9cc94dc9" /><Relationship Type="http://schemas.openxmlformats.org/officeDocument/2006/relationships/notesSlide" Target="/ppt/notesSlides/notesSlide15.xml" Id="R36333375f5274a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66211e63f4ccd" /><Relationship Type="http://schemas.openxmlformats.org/officeDocument/2006/relationships/notesSlide" Target="/ppt/notesSlides/notesSlide16.xml" Id="R55196d090d9a44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f8bbcf12e40c7" /><Relationship Type="http://schemas.openxmlformats.org/officeDocument/2006/relationships/notesSlide" Target="/ppt/notesSlides/notesSlide17.xml" Id="R15bb4508ffed4b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C77A4-5B12-414A-A700-AC37B589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Unreal Engine in the Real4Real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39197-0BB4-4693-A3B0-C59A7DEE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9DCE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9DCE4"/>
                </a:solidFill>
                <a:latin typeface="Arial"/>
                <a:ea typeface="Arial"/>
                <a:cs typeface="Arial"/>
              </a:rPr>
              <a:t>Camera checks pass. Flight acceptance and splat appearance remain unresolved.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5AE37-3AA6-406F-9401-3DE8722B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9DCE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CE4"/>
                </a:solidFill>
                <a:latin typeface="Arial"/>
                <a:ea typeface="Arial"/>
                <a:cs typeface="Arial"/>
              </a:rPr>
              <a:t>8 October 2026  ·  Focused validation included  ·  Complete R4R workflow unproven</a:t>
            </a:r>
          </a:p>
        </p:txBody>
      </p:sp>
    </p:spTree>
    <p:extLst>
      <p:ext uri="{BB962C8B-B14F-4D97-AF65-F5344CB8AC3E}">
        <p14:creationId xmlns:p14="http://schemas.microsoft.com/office/powerpoint/2010/main" val="1756972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E3BFC-0982-4B23-A7C7-F8C286BC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Real4Real question and experiment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BB4E1-8394-4CA8-998A-E51C03F8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Small real outdoor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38F99-73DA-49CD-B579-79B05C85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001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Reconstruct one site, then render trustworthy observations for NEW drone camera routes in residential, suburban and campus scenes below 100 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BE060-7D81-4076-9D26-911DABDE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332F"/>
                </a:solidFill>
                <a:latin typeface="Arial"/>
                <a:ea typeface="Arial"/>
                <a:cs typeface="Arial"/>
              </a:rPr>
              <a:t>Capture at 15 m → render at 50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3C65F-9162-43D1-8F7A-76C9CDE5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Open research goal. Blocks cannot answer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52797-BBEA-4D26-A6D9-0A0D8741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A: pose replay    B: scripted closed loop    C: released learned policy    S: UE Gaussian splat</a:t>
            </a:r>
          </a:p>
        </p:txBody>
      </p:sp>
    </p:spTree>
    <p:extLst>
      <p:ext uri="{BB962C8B-B14F-4D97-AF65-F5344CB8AC3E}">
        <p14:creationId xmlns:p14="http://schemas.microsoft.com/office/powerpoint/2010/main" val="1111982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8D62E-8195-495F-9525-F98B0C95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Native Blocks system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87FE3-7A72-4A4B-9299-F0E21045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5C78"/>
                </a:solidFill>
                <a:latin typeface="Arial"/>
                <a:ea typeface="Arial"/>
                <a:cs typeface="Arial"/>
              </a:rPr>
              <a:t>A  Target poses → ComputerVision pose RPC → UE scene → RGB + planar depth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E0044-26A6-4EDE-B11C-A16E1AAB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5C78"/>
                </a:solidFill>
                <a:latin typeface="Arial"/>
                <a:ea typeface="Arial"/>
                <a:cs typeface="Arial"/>
              </a:rPr>
              <a:t>B  Estimated position → P velocity script → SimpleFlight → FastPhysicsEngine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6FC25-240F-48BE-BF32-9FAAD5D5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    UE supplies rendered camera views and scene collision; AirSim logs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13907-66C5-46D2-9518-610F54CB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A332F"/>
                </a:solidFill>
                <a:latin typeface="Arial"/>
                <a:ea typeface="Arial"/>
                <a:cs typeface="Arial"/>
              </a:rPr>
              <a:t>C  No compatible released policy weights or task interface in Blocks.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4242B-55ED-4B3F-9BD5-CF8408BA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Scene: stock FlyingExampleMap. No real capture, common splat scene or held-out split.</a:t>
            </a:r>
          </a:p>
        </p:txBody>
      </p:sp>
    </p:spTree>
    <p:extLst>
      <p:ext uri="{BB962C8B-B14F-4D97-AF65-F5344CB8AC3E}">
        <p14:creationId xmlns:p14="http://schemas.microsoft.com/office/powerpoint/2010/main" val="1403749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BEEAB-AE27-4478-9873-7E576205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A: eight camera poses produced eight RGB images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ae39e794b41ea"/>
          <a:stretch xmlns:a="http://schemas.openxmlformats.org/drawingml/2006/main"/>
        </p:blipFill>
        <p:spPr>
          <a:xfrm xmlns:a="http://schemas.openxmlformats.org/drawingml/2006/main">
            <a:off x="533400" y="1401128"/>
            <a:ext cx="11125200" cy="458914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74253-EBED-4044-ADF5-97404804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NED route: 0–1 m horizontal at z = −2 m; 0.25 s pose settling</a:t>
            </a:r>
          </a:p>
        </p:txBody>
      </p:sp>
    </p:spTree>
    <p:extLst>
      <p:ext uri="{BB962C8B-B14F-4D97-AF65-F5344CB8AC3E}">
        <p14:creationId xmlns:p14="http://schemas.microsoft.com/office/powerpoint/2010/main" val="17556044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6A7F0-D273-422E-9A0E-CC3321E7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Camera sanity passed across four yaw directions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96f977c064e9f"/>
          <a:stretch xmlns:a="http://schemas.openxmlformats.org/drawingml/2006/main"/>
        </p:blipFill>
        <p:spPr>
          <a:xfrm xmlns:a="http://schemas.openxmlformats.org/drawingml/2006/main">
            <a:off x="1595438" y="1333500"/>
            <a:ext cx="9001125" cy="4667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D6C1A-3F49-424E-A119-A79C4F8F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Scene directions visibly change. Recorded centers match. RGB/depth times differ by 5–8 ms.</a:t>
            </a:r>
          </a:p>
        </p:txBody>
      </p:sp>
    </p:spTree>
    <p:extLst>
      <p:ext uri="{BB962C8B-B14F-4D97-AF65-F5344CB8AC3E}">
        <p14:creationId xmlns:p14="http://schemas.microsoft.com/office/powerpoint/2010/main" val="1671311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62E9B-3521-4BE8-8AC8-10B99525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A: planar depth is present for all eight views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c5cee72df4b82"/>
          <a:stretch xmlns:a="http://schemas.openxmlformats.org/drawingml/2006/main"/>
        </p:blipFill>
        <p:spPr>
          <a:xfrm xmlns:a="http://schemas.openxmlformats.org/drawingml/2006/main">
            <a:off x="762000" y="1343025"/>
            <a:ext cx="10668000" cy="4667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37208-B705-4E42-A0F7-BAAEFC10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First-frame wall edge matched at five tested columns; depth timestamp remains unmeasured.</a:t>
            </a:r>
          </a:p>
        </p:txBody>
      </p:sp>
    </p:spTree>
    <p:extLst>
      <p:ext uri="{BB962C8B-B14F-4D97-AF65-F5344CB8AC3E}">
        <p14:creationId xmlns:p14="http://schemas.microsoft.com/office/powerpoint/2010/main" val="1368695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C1915-88A9-4674-ACB9-A67D137C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B: scripted flight reached the five square waypoints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71369386f4d35"/>
          <a:stretch xmlns:a="http://schemas.openxmlformats.org/drawingml/2006/main"/>
        </p:blipFill>
        <p:spPr>
          <a:xfrm xmlns:a="http://schemas.openxmlformats.org/drawingml/2006/main">
            <a:off x="788987" y="1485900"/>
            <a:ext cx="5622925" cy="48196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062E6-123B-4800-BBE5-9D786B31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B8C61-3E82-42AC-BCAF-E24241AC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431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1 m square; NED z = −2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8171D-02FE-4936-98C4-3C2C4DD9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337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999DD-75CB-463F-8868-E7DEF5F9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P gain 0.7; velocity clip ±0.7 m/s; 0.2 s commands; SimpleFlight inner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C76F3-30AA-4A69-AA5B-9A20BE3F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57775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A332F"/>
                </a:solidFill>
                <a:latin typeface="Arial"/>
                <a:ea typeface="Arial"/>
                <a:cs typeface="Arial"/>
              </a:rPr>
              <a:t>Five waypoint events met 0.25 m tolerance. Landing state did not confirm.</a:t>
            </a:r>
          </a:p>
        </p:txBody>
      </p:sp>
    </p:spTree>
    <p:extLst>
      <p:ext uri="{BB962C8B-B14F-4D97-AF65-F5344CB8AC3E}">
        <p14:creationId xmlns:p14="http://schemas.microsoft.com/office/powerpoint/2010/main" val="104602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53BF2-51FC-42C6-A84A-0F067F1F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B still fails acceptance without route or image waits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f070e3dd14595"/>
          <a:stretch xmlns:a="http://schemas.openxmlformats.org/drawingml/2006/main"/>
        </p:blipFill>
        <p:spPr>
          <a:xfrm xmlns:a="http://schemas.openxmlformats.org/drawingml/2006/main">
            <a:off x="831056" y="1285875"/>
            <a:ext cx="6548438" cy="5238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E1EDB-66D4-4B38-BEF9-992E4CCA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57350"/>
            <a:ext cx="366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Airborne hover observed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8D5FA-6653-42E4-84BF-17380007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62200"/>
            <a:ext cx="3667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A332F"/>
                </a:solidFill>
                <a:latin typeface="Arial"/>
                <a:ea typeface="Arial"/>
                <a:cs typeface="Arial"/>
              </a:rPr>
              <a:t>Takeoff returned False despite achieved height.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3E243-6564-41E0-9082-94EF504B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14725"/>
            <a:ext cx="3667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Landing returned True after floor contact.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7B566-00CC-4824-8EAA-9585F863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95825"/>
            <a:ext cx="3667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A332F"/>
                </a:solidFill>
                <a:latin typeface="Arial"/>
                <a:ea typeface="Arial"/>
                <a:cs typeface="Arial"/>
              </a:rPr>
              <a:t>LandedState stayed Flying for 10 s at zero velocity.</a:t>
            </a:r>
          </a:p>
        </p:txBody>
      </p:sp>
    </p:spTree>
    <p:extLst>
      <p:ext uri="{BB962C8B-B14F-4D97-AF65-F5344CB8AC3E}">
        <p14:creationId xmlns:p14="http://schemas.microsoft.com/office/powerpoint/2010/main" val="2163058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9005D-9E2D-468E-BB3A-6A2AB432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Measured rates and resource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2117E-81B7-4063-BA8F-6C911D9D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Native B landing-check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93183-A794-47C9-9CFE-F75F522E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76450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Image RPC median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E5AC0-423F-45BE-B2A7-262E17C2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695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3.210 s  (acquisition, transport, encoding)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5C391-B5A7-492F-9DE4-3622903E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3367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Image interval median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9F85B-3667-40EB-A781-3737CD48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33675"/>
            <a:ext cx="695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5.355 s  ≈ 0.187 captured images/s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FDFCF-8A35-450C-A4EB-6660309F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90900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Velocity command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0EF20-14E0-40AD-B663-7D0B1C2A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90900"/>
            <a:ext cx="695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4.696 Hz median interval; 2.007 Hz over action span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4B1C2-5A6A-4F02-9F74-200F2791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4812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D874A-7656-40A5-AB08-21E52D44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48125"/>
            <a:ext cx="695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769 MiB sampled whole-GPU peak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5562D-259A-4189-8E06-AC36199F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05350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Wall / simulation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D9DE7-2A65-47CC-A15C-A1D43EA8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05350"/>
            <a:ext cx="695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64.75 s run / 48.83 s first-to-last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9EF71-FC47-4DB1-A6F2-A26C2AE8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6257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96795-12EE-49D1-A4E9-32785015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62575"/>
            <a:ext cx="695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2 FPS encoded playback; renderer throughput unmeasured</a:t>
            </a:r>
          </a:p>
        </p:txBody>
      </p:sp>
    </p:spTree>
    <p:extLst>
      <p:ext uri="{BB962C8B-B14F-4D97-AF65-F5344CB8AC3E}">
        <p14:creationId xmlns:p14="http://schemas.microsoft.com/office/powerpoint/2010/main" val="163650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04E90-9F5A-4701-B09F-91E03FE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Failures retained under separate run IDs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8C1EE-5C9D-441F-BA35-FD567E00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332F"/>
                </a:solidFill>
                <a:latin typeface="Arial"/>
                <a:ea typeface="Arial"/>
                <a:cs typeface="Arial"/>
              </a:rPr>
              <a:t>A startup RPC 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33BC2-21BF-41B3-9E42-F992EA51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first attempt failed; next A run completed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7E92E-3822-4D43-9556-7380D19E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332F"/>
                </a:solidFill>
                <a:latin typeface="Arial"/>
                <a:ea typeface="Arial"/>
                <a:cs typeface="Arial"/>
              </a:rPr>
              <a:t>B occupied RPC 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1C4E9-1E45-410B-8C12-3CC6FFDD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supervisor output retained; process ownership fixed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8FF68-5B82-48E7-820A-2C838B26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332F"/>
                </a:solidFill>
                <a:latin typeface="Arial"/>
                <a:ea typeface="Arial"/>
                <a:cs typeface="Arial"/>
              </a:rPr>
              <a:t>B spawn Ground_6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1129E-CB99-40C7-A8AA-02348BED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subsequent route checks compare collision timestamps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37194-E2C4-418D-92BF-FE1FC59D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714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332F"/>
                </a:solidFill>
                <a:latin typeface="Arial"/>
                <a:ea typeface="Arial"/>
                <a:cs typeface="Arial"/>
              </a:rPr>
              <a:t>Landing-state failure reproduced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B1351-683E-4DB9-A30D-8CEBBC9B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Isolated airborne descent ended at contact with LandedState still Flying.</a:t>
            </a:r>
          </a:p>
        </p:txBody>
      </p:sp>
    </p:spTree>
    <p:extLst>
      <p:ext uri="{BB962C8B-B14F-4D97-AF65-F5344CB8AC3E}">
        <p14:creationId xmlns:p14="http://schemas.microsoft.com/office/powerpoint/2010/main" val="8439123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A9296-98EE-4B27-BFEA-B25751CE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Final-color capture works. Splat appearance is unvalidated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0A873-8FA8-4E8E-8327-E40094ED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Corrected light direction and saturation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a1de089cf4540"/>
          <a:stretch xmlns:a="http://schemas.openxmlformats.org/drawingml/2006/main"/>
        </p:blipFill>
        <p:spPr>
          <a:xfrm xmlns:a="http://schemas.openxmlformats.org/drawingml/2006/main">
            <a:off x="1290638" y="2143125"/>
            <a:ext cx="3810000" cy="28575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31fec962a4b31"/>
          <a:stretch xmlns:a="http://schemas.openxmlformats.org/drawingml/2006/main"/>
        </p:blipFill>
        <p:spPr>
          <a:xfrm xmlns:a="http://schemas.openxmlformats.org/drawingml/2006/main">
            <a:off x="7091363" y="2143125"/>
            <a:ext cx="38100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DDBC0-BC86-44BB-AEEA-762EF69C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6D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D5A"/>
                </a:solidFill>
                <a:latin typeface="Arial"/>
                <a:ea typeface="Arial"/>
                <a:cs typeface="Arial"/>
              </a:rPr>
              <a:t>Usable mesh control, RGB max 226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B29A5-FC29-4AAF-9E8B-44FD27B0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95875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Visible splat detail, RGB max 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2FDC7-056B-4B77-BA9B-97C210CB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Dark appearance remains unexplained. Useful fidelity, depth and collision remain unproven.</a:t>
            </a:r>
          </a:p>
        </p:txBody>
      </p:sp>
    </p:spTree>
    <p:extLst>
      <p:ext uri="{BB962C8B-B14F-4D97-AF65-F5344CB8AC3E}">
        <p14:creationId xmlns:p14="http://schemas.microsoft.com/office/powerpoint/2010/main" val="5362786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FB552-A584-46E7-B3DF-5FCD1C47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The selected importer drops higher-order 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23D15-2597-4853-9C8A-D8D28F3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PLY includes higher-order appearance coefficients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3182A-7AE8-46BA-A700-60EFA10B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10572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The importer checks their fields, but stores only DC-derived color. Its point structure has no place for the higher-order coefficients.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9B39C-4E61-41D0-B7B4-C9BD8B46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A33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332F"/>
                </a:solidFill>
                <a:latin typeface="Arial"/>
                <a:ea typeface="Arial"/>
                <a:cs typeface="Arial"/>
              </a:rPr>
              <a:t>Viewing-direction appearance is lost on this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99A39-743E-42F6-8640-3FB671F0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This limits a faithful R4R baseline when the input model uses those coefficients. It does not explain the dark red frame by itself.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6450E-F21D-49F1-89EE-23111C5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57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Next comparison: the same PLY and matched cameras, with color conversion and exposure checked.</a:t>
            </a:r>
          </a:p>
        </p:txBody>
      </p:sp>
    </p:spTree>
    <p:extLst>
      <p:ext uri="{BB962C8B-B14F-4D97-AF65-F5344CB8AC3E}">
        <p14:creationId xmlns:p14="http://schemas.microsoft.com/office/powerpoint/2010/main" val="16338566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F6A30-8BF8-4C20-A77C-709632C1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Three ways to replace UE visuals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D233E-7A95-46AD-873F-9602219B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1  Splats inside 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3E7DD-8EF9-4438-9B8E-3E7F4AA8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Replace chosen object appearance. UE keeps world time, rendering/compositing and collision. UE5 drone layer and accurate collision geometry remain to build.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99884-905A-4916-8BEF-938A9F54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2  External splat observations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1FE6E-61EC-40DB-AB9C-55662AE6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Retain AirSim/UE dynamics, SimpleFlight, collisions and other sensors. Build a synchronized pose/intrinsics, axes/scale and image-return adapter.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67D9D-F1DF-48B1-97C1-07F61E5C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3  UE removed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EDC11-44AB-448C-9C93-A26AA3A0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Another simulator must own dynamics, controller, sensors, clocks, collision, logging and task evaluation. A splat renderer supplies appearance only.</a:t>
            </a:r>
          </a:p>
        </p:txBody>
      </p:sp>
    </p:spTree>
    <p:extLst>
      <p:ext uri="{BB962C8B-B14F-4D97-AF65-F5344CB8AC3E}">
        <p14:creationId xmlns:p14="http://schemas.microsoft.com/office/powerpoint/2010/main" val="14211843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598F8-7212-487E-B092-DBD1480A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Applicability to R4R tasks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942B3-CF97-4977-AC3D-23D00BCC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Indoor navigation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F70F4-2FC1-4A22-A72C-09C43BD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API and collision plumbing demonstrated; realistic obstacles and task thresholds absent.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D9BFA-5781-4051-BB55-209F639D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14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Outdoor navigation, sparse scenes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8A204-40CB-40DB-9AB0-182658A0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No real reconstruction, vegetation, capture coverage or altitude extrapolation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697E3-BFC9-449E-AE10-D7C34F0C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Racing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64DE9-D592-4962-B7B5-68FC5348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No gates, racing policy or high-rate vision benchmark; captured images averaged about 0.19 Hz in flight.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37489-C84D-432F-A40D-644FA4DC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Complete R4R workflow remains unproven. Native integration and one splat frame leave the real-scene questions open.</a:t>
            </a:r>
          </a:p>
        </p:txBody>
      </p:sp>
    </p:spTree>
    <p:extLst>
      <p:ext uri="{BB962C8B-B14F-4D97-AF65-F5344CB8AC3E}">
        <p14:creationId xmlns:p14="http://schemas.microsoft.com/office/powerpoint/2010/main" val="12162885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87FAE-2A88-46E8-B0E5-7BBD7579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A5000 host, storage and practical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95099-87BB-4E1D-B1EA-11FAFFC1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GPU experiments are paused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B90F8-6844-4304-B4BD-DA671D18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The supplied Ubuntu 22.04 A5000 proved Vulkan and offscreen rendering. Its 24 GB VRAM is headroom. Future experiments need a specific hypothesis before provisioning.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7FC5E-3C76-407C-BBF0-78B5CE09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Space and installation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37C21-548C-4A99-BE9A-CB6AC8F4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UE 5.5.4 archive 27.09 GB; ZIP entry sum 65.30 GB expanded. Blocks ZIP 142.5 MB / 281.3 MB expanded. Preserve about 30 GB project/cache headroom after editor extraction.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7E3DA-D3E0-440C-8B57-7B7E26AB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Cheaper option and limits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1E670-FB8D-4206-9D8E-44697BE4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47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An 8 GB VRAM NVIDIA Vulkan VM may run packaged Blocks, consistent with Epic editor guidance, but is untested here. Original 3DGS training VRAM does not size rendering.</a:t>
            </a:r>
          </a:p>
        </p:txBody>
      </p:sp>
    </p:spTree>
    <p:extLst>
      <p:ext uri="{BB962C8B-B14F-4D97-AF65-F5344CB8AC3E}">
        <p14:creationId xmlns:p14="http://schemas.microsoft.com/office/powerpoint/2010/main" val="4062668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8E742-B064-4D72-9559-D2745A85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Next scientific gate and evidence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D32EE-22DF-4795-9FF7-4E83C2FC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Same-PLY rendering comparison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78223-D940-4BC6-84AA-04993E05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Reference splat renderer and UE at matched poses, intrinsics and resolution. Check retained attributes, color conversion and exposure before another scene.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7B5BA-B1AB-49FE-A13C-05A4DF5B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Calibrated outdoor holdout afterward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0CCAA-2F32-493C-B586-E767EF0B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Approved real training capture and separate held-out views, including sparse regions and new altitude. Capture at 15 m and render at 50 m remains unresolved.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70E1A-599B-48AE-8D97-FF7E02E0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Flight-stack diagnosis is separate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DE7CD-C43B-4C64-B3DD-FCF22677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Landing RPC and SimpleFlight LandedState use different predicates. Instrument their inputs if this control stack is retained. No condition failure is identified yet.</a:t>
            </a:r>
          </a:p>
        </p:txBody>
      </p:sp>
    </p:spTree>
    <p:extLst>
      <p:ext uri="{BB962C8B-B14F-4D97-AF65-F5344CB8AC3E}">
        <p14:creationId xmlns:p14="http://schemas.microsoft.com/office/powerpoint/2010/main" val="20669562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41CE2-BD11-4EDE-88CC-425EBC1F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Local recovery verified. No other audit uses this host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959B3-681A-45A4-90D9-48A5E899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D5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D5A"/>
                </a:solidFill>
                <a:latin typeface="Arial"/>
                <a:ea typeface="Arial"/>
                <a:cs typeface="Arial"/>
              </a:rPr>
              <a:t>18 run folders matched VM-created manifests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6F54F-B231-4871-BC9E-B514416E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Blocks and sample ZIPs, full UE 5.5.4 archive, compiled plugin, imported map and point-cloud asset are recoverable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CF75B-FB39-4B7A-A4ED-92B60C6A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5C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5C78"/>
                </a:solidFill>
                <a:latin typeface="Arial"/>
                <a:ea typeface="Arial"/>
                <a:cs typeface="Arial"/>
              </a:rPr>
              <a:t>TRAVELUAV uses a separate A6000 instance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A0473-FC9C-4F0D-9A08-5780A94A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C3A"/>
                </a:solidFill>
                <a:latin typeface="Arial"/>
                <a:ea typeface="Arial"/>
                <a:cs typeface="Arial"/>
              </a:rPr>
              <a:t>Other listed audits are idle preparation tasks. This A5000 has no simulator or GPU process running. No dependency on it was found.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D1E13-3FF6-4514-BCDA-71A0916D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v2 and earlier evidence remain preserved. The instance has not been terminated.</a:t>
            </a:r>
          </a:p>
        </p:txBody>
      </p:sp>
    </p:spTree>
    <p:extLst>
      <p:ext uri="{BB962C8B-B14F-4D97-AF65-F5344CB8AC3E}">
        <p14:creationId xmlns:p14="http://schemas.microsoft.com/office/powerpoint/2010/main" val="2146596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2026-10-08T23:52:42.1090000Z</dcterms:created>
  <dcterms:modified xsi:type="dcterms:W3CDTF">2026-10-08T23:52:42.1090000Z</dcterms:modified>
</coreProperties>
</file>