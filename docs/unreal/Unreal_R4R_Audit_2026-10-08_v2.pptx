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2ad7cbec684cfb" /><Relationship Type="http://schemas.openxmlformats.org/officeDocument/2006/relationships/extended-properties" Target="/docProps/app.xml" Id="R21450178be784c67" /><Relationship Type="http://schemas.openxmlformats.org/officeDocument/2006/relationships/officeDocument" Target="/ppt/presentation.xml" Id="R202704c0b5ff4e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1e97f1c76a4dce"/>
  </p:sldMasterIdLst>
  <p:notesMasterIdLst>
    <p:notesMasterId xmlns:r="http://schemas.openxmlformats.org/officeDocument/2006/relationships" r:id="R3144caa334b84d2d"/>
  </p:notesMasterIdLst>
  <p:sldIdLst>
    <p:sldId xmlns:r="http://schemas.openxmlformats.org/officeDocument/2006/relationships" id="256" r:id="Rc6464e575647481a"/>
    <p:sldId xmlns:r="http://schemas.openxmlformats.org/officeDocument/2006/relationships" id="257" r:id="Rf9812ee705674ef1"/>
    <p:sldId xmlns:r="http://schemas.openxmlformats.org/officeDocument/2006/relationships" id="258" r:id="R3d16374c8d444a9f"/>
    <p:sldId xmlns:r="http://schemas.openxmlformats.org/officeDocument/2006/relationships" id="259" r:id="R08032cf567794aa2"/>
    <p:sldId xmlns:r="http://schemas.openxmlformats.org/officeDocument/2006/relationships" id="260" r:id="Rcc2ac14633104647"/>
    <p:sldId xmlns:r="http://schemas.openxmlformats.org/officeDocument/2006/relationships" id="261" r:id="R393aed7d112642b4"/>
    <p:sldId xmlns:r="http://schemas.openxmlformats.org/officeDocument/2006/relationships" id="262" r:id="Rc4677d9acde44723"/>
    <p:sldId xmlns:r="http://schemas.openxmlformats.org/officeDocument/2006/relationships" id="263" r:id="Re447a1263e7b4746"/>
    <p:sldId xmlns:r="http://schemas.openxmlformats.org/officeDocument/2006/relationships" id="264" r:id="Rb8c7c65948114f0b"/>
    <p:sldId xmlns:r="http://schemas.openxmlformats.org/officeDocument/2006/relationships" id="265" r:id="Rb7bd19c3ab044c93"/>
    <p:sldId xmlns:r="http://schemas.openxmlformats.org/officeDocument/2006/relationships" id="266" r:id="Rfbd847f8c9bd4a1f"/>
    <p:sldId xmlns:r="http://schemas.openxmlformats.org/officeDocument/2006/relationships" id="267" r:id="R72dbf7a092e9486f"/>
    <p:sldId xmlns:r="http://schemas.openxmlformats.org/officeDocument/2006/relationships" id="268" r:id="Ra8fe4c75d29f47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d6f0997d004ebe" /><Relationship Type="http://schemas.openxmlformats.org/officeDocument/2006/relationships/slideMaster" Target="/ppt/slideMasters/slideMaster1.xml" Id="R2f1e97f1c76a4dce" /><Relationship Type="http://schemas.openxmlformats.org/officeDocument/2006/relationships/notesMaster" Target="/ppt/notesMasters/notesMaster1.xml" Id="R3144caa334b84d2d" /><Relationship Type="http://schemas.openxmlformats.org/officeDocument/2006/relationships/presProps" Target="/ppt/presProps.xml" Id="R0bc36aa40bf94b66" /><Relationship Type="http://schemas.openxmlformats.org/officeDocument/2006/relationships/tableStyles" Target="/ppt/tableStyles.xml" Id="Rcdad8038aedb438a" /><Relationship Type="http://schemas.openxmlformats.org/officeDocument/2006/relationships/slide" Target="/ppt/slides/slide1.xml" Id="Rc6464e575647481a" /><Relationship Type="http://schemas.openxmlformats.org/officeDocument/2006/relationships/slide" Target="/ppt/slides/slide2.xml" Id="Rf9812ee705674ef1" /><Relationship Type="http://schemas.openxmlformats.org/officeDocument/2006/relationships/slide" Target="/ppt/slides/slide3.xml" Id="R3d16374c8d444a9f" /><Relationship Type="http://schemas.openxmlformats.org/officeDocument/2006/relationships/slide" Target="/ppt/slides/slide4.xml" Id="R08032cf567794aa2" /><Relationship Type="http://schemas.openxmlformats.org/officeDocument/2006/relationships/slide" Target="/ppt/slides/slide5.xml" Id="Rcc2ac14633104647" /><Relationship Type="http://schemas.openxmlformats.org/officeDocument/2006/relationships/slide" Target="/ppt/slides/slide6.xml" Id="R393aed7d112642b4" /><Relationship Type="http://schemas.openxmlformats.org/officeDocument/2006/relationships/slide" Target="/ppt/slides/slide7.xml" Id="Rc4677d9acde44723" /><Relationship Type="http://schemas.openxmlformats.org/officeDocument/2006/relationships/slide" Target="/ppt/slides/slide8.xml" Id="Re447a1263e7b4746" /><Relationship Type="http://schemas.openxmlformats.org/officeDocument/2006/relationships/slide" Target="/ppt/slides/slide9.xml" Id="Rb8c7c65948114f0b" /><Relationship Type="http://schemas.openxmlformats.org/officeDocument/2006/relationships/slide" Target="/ppt/slides/slide10.xml" Id="Rb7bd19c3ab044c93" /><Relationship Type="http://schemas.openxmlformats.org/officeDocument/2006/relationships/slide" Target="/ppt/slides/slide11.xml" Id="Rfbd847f8c9bd4a1f" /><Relationship Type="http://schemas.openxmlformats.org/officeDocument/2006/relationships/slide" Target="/ppt/slides/slide12.xml" Id="R72dbf7a092e9486f" /><Relationship Type="http://schemas.openxmlformats.org/officeDocument/2006/relationships/slide" Target="/ppt/slides/slide13.xml" Id="Ra8fe4c75d29f47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11f2cd3c0f4e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c8ad6279e44d56" /><Relationship Type="http://schemas.openxmlformats.org/officeDocument/2006/relationships/notesMaster" Target="/ppt/notesMasters/notesMaster1.xml" Id="Rf75a93c6693b4d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eb98947d5e4c90" /><Relationship Type="http://schemas.openxmlformats.org/officeDocument/2006/relationships/notesMaster" Target="/ppt/notesMasters/notesMaster1.xml" Id="R82029f105c6748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b139419a934023" /><Relationship Type="http://schemas.openxmlformats.org/officeDocument/2006/relationships/notesMaster" Target="/ppt/notesMasters/notesMaster1.xml" Id="R769fc880be104a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09f17cb2034086" /><Relationship Type="http://schemas.openxmlformats.org/officeDocument/2006/relationships/notesMaster" Target="/ppt/notesMasters/notesMaster1.xml" Id="R4228e75e96d04d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5e4ed6663e4046" /><Relationship Type="http://schemas.openxmlformats.org/officeDocument/2006/relationships/notesMaster" Target="/ppt/notesMasters/notesMaster1.xml" Id="Refa54da41d2d4d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bbfc41575f4aed" /><Relationship Type="http://schemas.openxmlformats.org/officeDocument/2006/relationships/notesMaster" Target="/ppt/notesMasters/notesMaster1.xml" Id="Rd30f31ecbc4340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020f1e67c9461b" /><Relationship Type="http://schemas.openxmlformats.org/officeDocument/2006/relationships/notesMaster" Target="/ppt/notesMasters/notesMaster1.xml" Id="R15306bdc509c4d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cd51ffd1944b2d" /><Relationship Type="http://schemas.openxmlformats.org/officeDocument/2006/relationships/notesMaster" Target="/ppt/notesMasters/notesMaster1.xml" Id="R369395822bd94f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a48e038869472e" /><Relationship Type="http://schemas.openxmlformats.org/officeDocument/2006/relationships/notesMaster" Target="/ppt/notesMasters/notesMaster1.xml" Id="R7c1e5ac5c53d44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c737d3a0a34146" /><Relationship Type="http://schemas.openxmlformats.org/officeDocument/2006/relationships/notesMaster" Target="/ppt/notesMasters/notesMaster1.xml" Id="Rc71570059ca044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9b290ce93c48a8" /><Relationship Type="http://schemas.openxmlformats.org/officeDocument/2006/relationships/notesMaster" Target="/ppt/notesMasters/notesMaster1.xml" Id="Rf591b856b212462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74dcf7406f04c4a" /><Relationship Type="http://schemas.openxmlformats.org/officeDocument/2006/relationships/notesMaster" Target="/ppt/notesMasters/notesMaster1.xml" Id="R33da96aa5277429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cddb56a9c4348af" /><Relationship Type="http://schemas.openxmlformats.org/officeDocument/2006/relationships/notesMaster" Target="/ppt/notesMasters/notesMaster1.xml" Id="R128142cf9ed249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locally preserved A/B run directories and docs/unreal/handoff.md. This deck does not report any AirLab real-scene image or learned-policy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project context: docs/r4r-audit-context.md, 2026-10-08. No approved AirLab dataset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Microsoft AirSim source commit 96235148a332fe7cb3d3525a0720e26faaca99e0; Linux Blocks v1.8.1 release ZIP SHA-256 563e1da1b5d7303b9405c8736243ea92ab0a011b96a561f26f17563d105a404f. See docs/unreal/sources.md.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ue-20261008T215319Z-a-5fe9b7c3; source-manifested local artifacts. 640x480; requested/actual rig and response camera centers matched to recorded precision. Image contact: figures/rgb-contact.png. A is not flight.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ue-20261008T215319Z-a-5fe9b7c3; all 8 float32 480x640 arrays opened. DepthPlanar is optical-axis distance in metres. Display clipped at 50 m. First frame wall 23.09375 m; ground 6.0195 m; far/sky 13456 m. RGB timestamp only, depth timestamp not recorded.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ue-20261008T220451Z-b-a3d4be49, five waypoint_reached events at 0.228–0.248 m error; full run failed the final landing-state check. Actual track from vehicle_trajectory.jsonl. Baseline Ground_6 collision is recorded separately.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 from ue-20261008T220451Z-b-a3d4be49/analysis.json, camera.jsonl, actions.jsonl, run.json and GPU JSONL. Sampled GPU usage is whole-GPU nvidia-smi, not process peak. Renderer GPU timing and policy latency were not measured.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IDs and error details are in results/unreal/ and local source-manifested artifacts. Preflight-only failure has a local supervisor log but no remote run directory/source manifest. The landing-check run had new Ground_6 contact after the spawn baseline, so landing cannot be called successful.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UE5.5.4 Linux installed ZIP SHA-256 e20acd77e6caad42ee1bf0df1cb4c5077ceb1350817cfdacb554f4a594710383. Italink plugin commit 411f879985719ce69eaaf15d58152c551e2719b1, BuildPlugin exit 0. Imported author's chinese_vase.ply to /Game/Gaussians. Ticked control ue-20261008T225105Z-s-control-e488bef0, source-manifested: cube base-color RGB max 228; splat final-color RGB max 1. The raw base-color PNG has alpha 0; its RGB channels are displayed opaque in this slide without changing their values. Even lit cube scene-color was zero, so failure is not isolated to plugin alone. No outdoor or real-scene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assessment based on source inspection and current native run. No external sensor adapter or complete UE replacement was built. UE4.27 Blocks is a packaged binary and cannot be edited as the UE5.5 splat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 scope and docs/r4r-audit-context.md. Blocks supports integration only. Outdoor scene coverage, novel views, moving objects, depth and collision are separate tests. No policy score or real drone transfer was measured.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Host: user-supplied RunPod Ubuntu 22.04.5, RTX A5000 24 GB, driver 580.178.04, 50 GB cgroup RAM, 120 GB root disk. Epic Linux requirements: https://dev.epicgames.com/documentation/en-us/unreal-engine/linux-development-requirements-for-unreal-engine. Source ZIP and editor sizes are in docs/unreal/assets.md. $0.30/hour was displayed by provider UI, not independently billed.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R4R context; see docs/unreal/handoff.md and sources.md. Source-manifested A/B files reside under ~/Downloads/AL/R4R-Sims/artifacts/unreal/. Public source URLs and commits are in sources.md.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8a218d816a43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7e992e61564871" /><Relationship Type="http://schemas.openxmlformats.org/officeDocument/2006/relationships/slideLayout" Target="/ppt/slideLayouts/slideLayout1.xml" Id="Rfed15e09cdda4c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d15e09cdda4c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0c05546524cf3" /><Relationship Type="http://schemas.openxmlformats.org/officeDocument/2006/relationships/notesSlide" Target="/ppt/notesSlides/notesSlide1.xml" Id="Radb88c37c25f4a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261debc044ffd" /><Relationship Type="http://schemas.openxmlformats.org/officeDocument/2006/relationships/notesSlide" Target="/ppt/notesSlides/notesSlide2.xml" Id="R8938570b80f448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21bbb6de142b9" /><Relationship Type="http://schemas.openxmlformats.org/officeDocument/2006/relationships/notesSlide" Target="/ppt/notesSlides/notesSlide3.xml" Id="Rc66c521d38ae4a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6c64141c9407d" /><Relationship Type="http://schemas.openxmlformats.org/officeDocument/2006/relationships/image" Target="/ppt/media/image.png" Id="R2cdc53b569394a26" /><Relationship Type="http://schemas.openxmlformats.org/officeDocument/2006/relationships/notesSlide" Target="/ppt/notesSlides/notesSlide4.xml" Id="R61b8ec5b25b543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6589b432b43f7" /><Relationship Type="http://schemas.openxmlformats.org/officeDocument/2006/relationships/image" Target="/ppt/media/image2.png" Id="R594bbe336c2a4eac" /><Relationship Type="http://schemas.openxmlformats.org/officeDocument/2006/relationships/notesSlide" Target="/ppt/notesSlides/notesSlide5.xml" Id="Rfb5d8daada9d48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b0554eca84afc" /><Relationship Type="http://schemas.openxmlformats.org/officeDocument/2006/relationships/image" Target="/ppt/media/image3.png" Id="Rdac949bb4d3d4b47" /><Relationship Type="http://schemas.openxmlformats.org/officeDocument/2006/relationships/notesSlide" Target="/ppt/notesSlides/notesSlide6.xml" Id="Rb50e91e8863441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95a48564e418f" /><Relationship Type="http://schemas.openxmlformats.org/officeDocument/2006/relationships/notesSlide" Target="/ppt/notesSlides/notesSlide7.xml" Id="R9b68289c105e46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2ebda8e0e449f" /><Relationship Type="http://schemas.openxmlformats.org/officeDocument/2006/relationships/notesSlide" Target="/ppt/notesSlides/notesSlide8.xml" Id="Rb412f3e2314b4e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8d694d3da4980" /><Relationship Type="http://schemas.openxmlformats.org/officeDocument/2006/relationships/image" Target="/ppt/media/image4.png" Id="R423c136926bf4f7c" /><Relationship Type="http://schemas.openxmlformats.org/officeDocument/2006/relationships/image" Target="/ppt/media/image5.png" Id="R9f642edf29824c23" /><Relationship Type="http://schemas.openxmlformats.org/officeDocument/2006/relationships/notesSlide" Target="/ppt/notesSlides/notesSlide9.xml" Id="Rea1c7fdbabb446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20647f8b64b17" /><Relationship Type="http://schemas.openxmlformats.org/officeDocument/2006/relationships/notesSlide" Target="/ppt/notesSlides/notesSlide10.xml" Id="Rffe18a1f21134e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18adee9134e57" /><Relationship Type="http://schemas.openxmlformats.org/officeDocument/2006/relationships/notesSlide" Target="/ppt/notesSlides/notesSlide11.xml" Id="R913d92b2468248e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c47c9a68f543c5" /><Relationship Type="http://schemas.openxmlformats.org/officeDocument/2006/relationships/notesSlide" Target="/ppt/notesSlides/notesSlide12.xml" Id="Rd09a21337c93451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73794c0e2b48e2" /><Relationship Type="http://schemas.openxmlformats.org/officeDocument/2006/relationships/notesSlide" Target="/ppt/notesSlides/notesSlide13.xml" Id="Rb49bcb26e3bc44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C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5460E7-BF5C-4614-8EED-B03934B6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Unreal Engine in the Real4Real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95CDA-63C1-437A-9DEF-3804C746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C9DCE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9DCE4"/>
                </a:solidFill>
                <a:latin typeface="Arial"/>
                <a:ea typeface="Arial"/>
                <a:cs typeface="Arial"/>
              </a:rPr>
              <a:t>Native camera and flight evidence on the supplied A5000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C3C3D-2F89-4AA7-9F74-AC8F07A7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9DCE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CE4"/>
                </a:solidFill>
                <a:latin typeface="Arial"/>
                <a:ea typeface="Arial"/>
                <a:cs typeface="Arial"/>
              </a:rPr>
              <a:t>8 October 2026  ·  Gaussian sensor RGB failed; real-scene fidelity pending</a:t>
            </a:r>
          </a:p>
        </p:txBody>
      </p:sp>
    </p:spTree>
    <p:extLst>
      <p:ext uri="{BB962C8B-B14F-4D97-AF65-F5344CB8AC3E}">
        <p14:creationId xmlns:p14="http://schemas.microsoft.com/office/powerpoint/2010/main" val="4937962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DCF9EE-7669-4848-A07D-283B7359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Real4Real question and experiment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3894D-6BEC-466A-A329-29A2F44F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5C7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5C78"/>
                </a:solidFill>
                <a:latin typeface="Arial"/>
                <a:ea typeface="Arial"/>
                <a:cs typeface="Arial"/>
              </a:rPr>
              <a:t>Small real outdoor capture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36A971-534A-4C79-AF9C-7B390B37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10001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Reconstruct one site, then render trustworthy observations for NEW drone camera routes in residential, suburban and campus scenes below 100 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6B672-F9ED-42B1-8DE4-E507F2AF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685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9A332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9A332F"/>
                </a:solidFill>
                <a:latin typeface="Arial"/>
                <a:ea typeface="Arial"/>
                <a:cs typeface="Arial"/>
              </a:rPr>
              <a:t>Capture at 15 m → render at 50 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33444-A00C-4D1A-A3D6-F1FB5D52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7672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Open research goal. Blocks cannot answer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0BA8F-C497-4B3A-AF4D-D4F66FFE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9592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8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875"/>
                </a:solidFill>
                <a:latin typeface="Arial"/>
                <a:ea typeface="Arial"/>
                <a:cs typeface="Arial"/>
              </a:rPr>
              <a:t>A: pose replay    B: scripted closed loop    C: released learned policy    S: UE Gaussian splat</a:t>
            </a:r>
          </a:p>
        </p:txBody>
      </p:sp>
    </p:spTree>
    <p:extLst>
      <p:ext uri="{BB962C8B-B14F-4D97-AF65-F5344CB8AC3E}">
        <p14:creationId xmlns:p14="http://schemas.microsoft.com/office/powerpoint/2010/main" val="3108743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D6903B-94A1-41BB-B1EE-5010163B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Native Blocks system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3A15C-CF64-4AE6-96E0-51C6B0E9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25C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5C78"/>
                </a:solidFill>
                <a:latin typeface="Arial"/>
                <a:ea typeface="Arial"/>
                <a:cs typeface="Arial"/>
              </a:rPr>
              <a:t>A  Target poses → ComputerVision pose RPC → UE scene → RGB + planar depth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D5E937-6CDB-4675-83F6-1FAC3E06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25C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5C78"/>
                </a:solidFill>
                <a:latin typeface="Arial"/>
                <a:ea typeface="Arial"/>
                <a:cs typeface="Arial"/>
              </a:rPr>
              <a:t>B  Estimated position → P velocity script → SimpleFlight → FastPhysicsEngine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B8481-9546-4AAA-89FF-D538EB45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    UE supplies rendered camera views and scene collision; AirSim logs state.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D490D-7C00-4973-AC61-44772477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A332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A332F"/>
                </a:solidFill>
                <a:latin typeface="Arial"/>
                <a:ea typeface="Arial"/>
                <a:cs typeface="Arial"/>
              </a:rPr>
              <a:t>C  No compatible released policy weights or task interface in Blocks.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EF98D-F13C-4123-B33D-A1300C79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8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875"/>
                </a:solidFill>
                <a:latin typeface="Arial"/>
                <a:ea typeface="Arial"/>
                <a:cs typeface="Arial"/>
              </a:rPr>
              <a:t>Scene: stock FlyingExampleMap. No real capture, common splat scene or held-out split.</a:t>
            </a:r>
          </a:p>
        </p:txBody>
      </p:sp>
    </p:spTree>
    <p:extLst>
      <p:ext uri="{BB962C8B-B14F-4D97-AF65-F5344CB8AC3E}">
        <p14:creationId xmlns:p14="http://schemas.microsoft.com/office/powerpoint/2010/main" val="10184845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94D9F-9F83-483B-A617-B0C67EF6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A: eight camera poses produced eight RGB images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c53b569394a26"/>
          <a:stretch xmlns:a="http://schemas.openxmlformats.org/drawingml/2006/main"/>
        </p:blipFill>
        <p:spPr>
          <a:xfrm xmlns:a="http://schemas.openxmlformats.org/drawingml/2006/main">
            <a:off x="533400" y="1401128"/>
            <a:ext cx="11125200" cy="458914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271DC-78FA-415B-B1D2-2F4C17FE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8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875"/>
                </a:solidFill>
                <a:latin typeface="Arial"/>
                <a:ea typeface="Arial"/>
                <a:cs typeface="Arial"/>
              </a:rPr>
              <a:t>NED route: 0–1 m horizontal at z = −2 m; 0.25 s pose settling</a:t>
            </a:r>
          </a:p>
        </p:txBody>
      </p:sp>
    </p:spTree>
    <p:extLst>
      <p:ext uri="{BB962C8B-B14F-4D97-AF65-F5344CB8AC3E}">
        <p14:creationId xmlns:p14="http://schemas.microsoft.com/office/powerpoint/2010/main" val="9755133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C9DB3-4E62-44E9-8078-43EA18E0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A: planar depth is present for all eight views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4bbe336c2a4eac"/>
          <a:stretch xmlns:a="http://schemas.openxmlformats.org/drawingml/2006/main"/>
        </p:blipFill>
        <p:spPr>
          <a:xfrm xmlns:a="http://schemas.openxmlformats.org/drawingml/2006/main">
            <a:off x="762000" y="1343025"/>
            <a:ext cx="10668000" cy="46672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F2BCBA-706F-4BD6-AFF2-E8271DA9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722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87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875"/>
                </a:solidFill>
                <a:latin typeface="Arial"/>
                <a:ea typeface="Arial"/>
                <a:cs typeface="Arial"/>
              </a:rPr>
              <a:t>First-frame wall edge matched at five tested columns; depth timestamp remains unmeasured.</a:t>
            </a:r>
          </a:p>
        </p:txBody>
      </p:sp>
    </p:spTree>
    <p:extLst>
      <p:ext uri="{BB962C8B-B14F-4D97-AF65-F5344CB8AC3E}">
        <p14:creationId xmlns:p14="http://schemas.microsoft.com/office/powerpoint/2010/main" val="8607399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3621AD-CB79-4DD8-8726-E6F482F5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B: scripted flight reached the five square waypoints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c949bb4d3d4b47"/>
          <a:stretch xmlns:a="http://schemas.openxmlformats.org/drawingml/2006/main"/>
        </p:blipFill>
        <p:spPr>
          <a:xfrm xmlns:a="http://schemas.openxmlformats.org/drawingml/2006/main">
            <a:off x="788987" y="1485900"/>
            <a:ext cx="5622925" cy="48196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003FF-49FE-4DF6-B7EB-7DB8CA34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145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25C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5C78"/>
                </a:solidFill>
                <a:latin typeface="Arial"/>
                <a:ea typeface="Arial"/>
                <a:cs typeface="Arial"/>
              </a:rPr>
              <a:t>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0F1F0C-4F1F-46F7-BB80-88E7D69F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43125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1 m square; NED z = −2 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E230E-A514-4F32-A898-454371E8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337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25C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5C78"/>
                </a:solidFill>
                <a:latin typeface="Arial"/>
                <a:ea typeface="Arial"/>
                <a:cs typeface="Arial"/>
              </a:rPr>
              <a:t>Controller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6B349-08BB-4E6C-87A6-23D514CE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52800"/>
            <a:ext cx="4476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P gain 0.7; velocity clip ±0.7 m/s; 0.2 s commands; SimpleFlight inner loop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73DC3-4ADD-4B40-9EC1-545DDC8D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57775"/>
            <a:ext cx="447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A33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A332F"/>
                </a:solidFill>
                <a:latin typeface="Arial"/>
                <a:ea typeface="Arial"/>
                <a:cs typeface="Arial"/>
              </a:rPr>
              <a:t>Five waypoint events met 0.25 m tolerance. Landing state did not confirm.</a:t>
            </a:r>
          </a:p>
        </p:txBody>
      </p:sp>
    </p:spTree>
    <p:extLst>
      <p:ext uri="{BB962C8B-B14F-4D97-AF65-F5344CB8AC3E}">
        <p14:creationId xmlns:p14="http://schemas.microsoft.com/office/powerpoint/2010/main" val="16866188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32337F-3D2F-42F3-B5AF-7BF516E5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Measured rates and resource 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D8AEC-23E4-4912-AB4F-A37EA3F0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25C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5C78"/>
                </a:solidFill>
                <a:latin typeface="Arial"/>
                <a:ea typeface="Arial"/>
                <a:cs typeface="Arial"/>
              </a:rPr>
              <a:t>Native B landing-check run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9AC3DD-5DD7-4563-BB9E-58A64813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76450"/>
            <a:ext cx="361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Image RPC median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DB741-358B-470E-929A-A7FDDCD1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76450"/>
            <a:ext cx="6953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3.210 s  (acquisition, transport, encoding)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F542B4-73F8-4411-8DED-FB051746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33675"/>
            <a:ext cx="361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Image interval median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7D7E24-E57F-4176-AE58-F87BD1DD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33675"/>
            <a:ext cx="6953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5.355 s  ≈ 0.187 captured images/s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A6E021-0E9F-4316-AFF9-8CB2AC2E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90900"/>
            <a:ext cx="361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Velocity command 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D177D-7CBA-4FD8-A929-307E6BAC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90900"/>
            <a:ext cx="6953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4.696 Hz median interval; 2.007 Hz over action span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207C9-F8C1-46CA-8D1F-D41C6A6B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48125"/>
            <a:ext cx="361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GPU memory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2D209-A8A7-46C1-959F-E2E09F16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48125"/>
            <a:ext cx="6953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769 MiB sampled whole-GPU peak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ECC569-73A3-4E6A-A9D2-FD4F7B46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05350"/>
            <a:ext cx="361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Wall / simulation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22647-3B43-4F04-B635-D7695CA3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705350"/>
            <a:ext cx="6953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64.75 s run / 48.83 s first-to-last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431FC5-974C-4194-B90E-28219DC3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62575"/>
            <a:ext cx="361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Video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11CF6D-0FB0-484C-BDE5-35F962F6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362575"/>
            <a:ext cx="6953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2 FPS encoded playback; renderer throughput unmeasured</a:t>
            </a:r>
          </a:p>
        </p:txBody>
      </p:sp>
    </p:spTree>
    <p:extLst>
      <p:ext uri="{BB962C8B-B14F-4D97-AF65-F5344CB8AC3E}">
        <p14:creationId xmlns:p14="http://schemas.microsoft.com/office/powerpoint/2010/main" val="19878239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03E9A-AE90-4921-8C1E-14F8129B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Failures retained under separate run IDs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C2D65-30E1-40F9-A6EE-96783735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9A332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9A332F"/>
                </a:solidFill>
                <a:latin typeface="Arial"/>
                <a:ea typeface="Arial"/>
                <a:cs typeface="Arial"/>
              </a:rPr>
              <a:t>A startup RPC race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DB30B-D58B-48B2-ABFD-2DF7F7C4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first attempt failed; next A run completed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11C4BF-6393-4734-98D9-E01563B6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9A332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9A332F"/>
                </a:solidFill>
                <a:latin typeface="Arial"/>
                <a:ea typeface="Arial"/>
                <a:cs typeface="Arial"/>
              </a:rPr>
              <a:t>B occupied RPC 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C1E73-0159-4198-A954-126CAB21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supervisor output retained; process ownership fixed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E8973-2DCD-45B0-A3DC-D1BFAE96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9A332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9A332F"/>
                </a:solidFill>
                <a:latin typeface="Arial"/>
                <a:ea typeface="Arial"/>
                <a:cs typeface="Arial"/>
              </a:rPr>
              <a:t>B spawn Ground_6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55E4C-83D5-4A16-8B08-9E28E884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subsequent route checks compare collision timestamps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55CEB-B9F1-495A-A634-94AEFC4C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9A332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9A332F"/>
                </a:solidFill>
                <a:latin typeface="Arial"/>
                <a:ea typeface="Arial"/>
                <a:cs typeface="Arial"/>
              </a:rPr>
              <a:t>Landing remains unverified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37D286-7BB2-4887-8ECD-6463020A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landAsync returned; floor contact occurred; LandedState stayed Flying</a:t>
            </a:r>
          </a:p>
        </p:txBody>
      </p:sp>
    </p:spTree>
    <p:extLst>
      <p:ext uri="{BB962C8B-B14F-4D97-AF65-F5344CB8AC3E}">
        <p14:creationId xmlns:p14="http://schemas.microsoft.com/office/powerpoint/2010/main" val="1503980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7D698-EA12-47FF-9152-C045173B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S: Linux build/import passed; sensor RGB failed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14EF2D-4B48-482A-A0C1-D4D8BC5F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25C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5C78"/>
                </a:solidFill>
                <a:latin typeface="Arial"/>
                <a:ea typeface="Arial"/>
                <a:cs typeface="Arial"/>
              </a:rPr>
              <a:t>UE 5.5.4 Linux plugin build + PLY import succeeded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3c136926bf4f7c"/>
          <a:stretch xmlns:a="http://schemas.openxmlformats.org/drawingml/2006/main"/>
        </p:blipFill>
        <p:spPr>
          <a:xfrm xmlns:a="http://schemas.openxmlformats.org/drawingml/2006/main">
            <a:off x="1290638" y="2143125"/>
            <a:ext cx="3810000" cy="285750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642edf29824c23"/>
          <a:stretch xmlns:a="http://schemas.openxmlformats.org/drawingml/2006/main"/>
        </p:blipFill>
        <p:spPr>
          <a:xfrm xmlns:a="http://schemas.openxmlformats.org/drawingml/2006/main">
            <a:off x="7091363" y="2143125"/>
            <a:ext cx="3810000" cy="2857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5B6B5-FAA9-4D88-8BC3-8859F385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6D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D5A"/>
                </a:solidFill>
                <a:latin typeface="Arial"/>
                <a:ea typeface="Arial"/>
                <a:cs typeface="Arial"/>
              </a:rPr>
              <a:t>Control cube: base-color RGB visible, max 228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F5E26-A0ED-4313-A168-C3F8AFCB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095875"/>
            <a:ext cx="5095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A33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A332F"/>
                </a:solidFill>
                <a:latin typeface="Arial"/>
                <a:ea typeface="Arial"/>
                <a:cs typeface="Arial"/>
              </a:rPr>
              <a:t>Imported vase: final color near black, RGB max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24FD3-A3B1-4E90-BBDD-302EBD30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Scene-color cube also black. Fix the camera render channel before claiming Gaussian observations.</a:t>
            </a:r>
          </a:p>
        </p:txBody>
      </p:sp>
    </p:spTree>
    <p:extLst>
      <p:ext uri="{BB962C8B-B14F-4D97-AF65-F5344CB8AC3E}">
        <p14:creationId xmlns:p14="http://schemas.microsoft.com/office/powerpoint/2010/main" val="10147014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76BC77-266C-48B8-8BCB-90ACD17C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Three ways to replace UE visuals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DFBC7-EED3-4DD9-877E-2C1A889F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33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977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5C7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5C78"/>
                </a:solidFill>
                <a:latin typeface="Arial"/>
                <a:ea typeface="Arial"/>
                <a:cs typeface="Arial"/>
              </a:rPr>
              <a:t>1  Splats inside 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5E87A-7637-4327-8ED3-1A6A8F7A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Replace chosen object appearance. UE keeps world time, rendering/compositing and collision. UE5 drone layer and accurate collision geometry remain to build.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F9E7B3-3151-4F46-9D9B-55A16DA2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619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977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5C7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5C78"/>
                </a:solidFill>
                <a:latin typeface="Arial"/>
                <a:ea typeface="Arial"/>
                <a:cs typeface="Arial"/>
              </a:rPr>
              <a:t>2  External splat observations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FE1D7-266F-47D8-B0E7-B7E76685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Retain AirSim/UE dynamics, SimpleFlight, collisions and other sensors. Build a synchronized pose/intrinsics, axes/scale and image-return adapter.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AAC02-90AC-406D-A2FD-AE673B76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533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977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5C7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5C78"/>
                </a:solidFill>
                <a:latin typeface="Arial"/>
                <a:ea typeface="Arial"/>
                <a:cs typeface="Arial"/>
              </a:rPr>
              <a:t>3  UE removed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971BE-B4EA-4189-8297-22C6173F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Another simulator must own dynamics, controller, sensors, clocks, collision, logging and task evaluation. A splat renderer supplies appearance only.</a:t>
            </a:r>
          </a:p>
        </p:txBody>
      </p:sp>
    </p:spTree>
    <p:extLst>
      <p:ext uri="{BB962C8B-B14F-4D97-AF65-F5344CB8AC3E}">
        <p14:creationId xmlns:p14="http://schemas.microsoft.com/office/powerpoint/2010/main" val="7807854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6935B5-1249-45C3-A954-508D28A5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Applicability to R4R tasks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5BEC0-78D5-4E21-8B87-D2CD4EE4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977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5C7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5C78"/>
                </a:solidFill>
                <a:latin typeface="Arial"/>
                <a:ea typeface="Arial"/>
                <a:cs typeface="Arial"/>
              </a:rPr>
              <a:t>Indoor navigation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469BA-8C9A-4849-B4C7-D05C0042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API and collision plumbing demonstrated; realistic obstacles and task thresholds absent.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550A1-76C2-4DE9-A4BE-BF6848B2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714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977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5C7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5C78"/>
                </a:solidFill>
                <a:latin typeface="Arial"/>
                <a:ea typeface="Arial"/>
                <a:cs typeface="Arial"/>
              </a:rPr>
              <a:t>Outdoor navigation, sparse scenes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AC4AD-DC51-46A6-B971-086513FE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No real reconstruction, vegetation, capture coverage or altitude extrapolation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454150-A16C-4DB6-ACF0-ED469D02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977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5C7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5C78"/>
                </a:solidFill>
                <a:latin typeface="Arial"/>
                <a:ea typeface="Arial"/>
                <a:cs typeface="Arial"/>
              </a:rPr>
              <a:t>Racing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6DE05A-9A41-4E22-A1CC-3F6F2864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81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No gates, racing policy or high-rate vision benchmark; captured images averaged about 0.19 Hz in flight.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16AE4-2672-4429-B4B6-F4DDB68D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R4R role: useful conventional visual/control baseline and possible UE dynamics host; splat camera fit remains open.</a:t>
            </a:r>
          </a:p>
        </p:txBody>
      </p:sp>
    </p:spTree>
    <p:extLst>
      <p:ext uri="{BB962C8B-B14F-4D97-AF65-F5344CB8AC3E}">
        <p14:creationId xmlns:p14="http://schemas.microsoft.com/office/powerpoint/2010/main" val="15061449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0159EE-F3CB-4584-98E2-F72A893E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A5000 host, storage and practical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4EB0D-9A31-4B0A-8733-D3C0029E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5C7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5C78"/>
                </a:solidFill>
                <a:latin typeface="Arial"/>
                <a:ea typeface="Arial"/>
                <a:cs typeface="Arial"/>
              </a:rPr>
              <a:t>Recommended for the next UE splat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A89B80-01E3-4BB6-81DA-3BBFD6CA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Keep the supplied Ubuntu 22.04 A5000 graphics VM. Vulkan and offscreen Blocks RGB are demonstrated; 24 GB VRAM is headroom, not a measured minimum.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20A0A-1A78-4276-846F-8465F2C3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714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5C7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5C78"/>
                </a:solidFill>
                <a:latin typeface="Arial"/>
                <a:ea typeface="Arial"/>
                <a:cs typeface="Arial"/>
              </a:rPr>
              <a:t>Space and installation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89543B-C43F-4941-A9A2-ACAE96B1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10477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UE 5.5.4 archive 27.09 GB; ZIP entry sum 65.30 GB expanded. Blocks ZIP 142.5 MB / 281.3 MB expanded. Preserve about 30 GB project/cache headroom after editor extraction.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BB8ACD-9477-4895-A844-5A6DB8DC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714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5C7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5C78"/>
                </a:solidFill>
                <a:latin typeface="Arial"/>
                <a:ea typeface="Arial"/>
                <a:cs typeface="Arial"/>
              </a:rPr>
              <a:t>Cheaper option and limits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C8C9E-6D4C-45EE-94FC-B605DEB4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477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An 8 GB VRAM NVIDIA Vulkan VM may run packaged Blocks, consistent with Epic editor guidance, but is untested here. Original 3DGS training VRAM does not size rendering.</a:t>
            </a:r>
          </a:p>
        </p:txBody>
      </p:sp>
    </p:spTree>
    <p:extLst>
      <p:ext uri="{BB962C8B-B14F-4D97-AF65-F5344CB8AC3E}">
        <p14:creationId xmlns:p14="http://schemas.microsoft.com/office/powerpoint/2010/main" val="14849478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25ABD-E4EF-4745-A1F7-52D2BB85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Next scientific gate and evidence 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287CC-090D-4D51-854A-6DBBF286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723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5C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5C78"/>
                </a:solidFill>
                <a:latin typeface="Arial"/>
                <a:ea typeface="Arial"/>
                <a:cs typeface="Arial"/>
              </a:rPr>
              <a:t>Held-out real camera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137D2-2C3E-4E80-8421-CB900C7B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Approved AirLab training capture plus calibrated, separate held-out poses; keep sparse vegetation, unseen angles and 15→50 m altitude routes explicit.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3502AA-825D-4E06-AB52-AFE1B53A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23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5C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5C78"/>
                </a:solidFill>
                <a:latin typeface="Arial"/>
                <a:ea typeface="Arial"/>
                <a:cs typeface="Arial"/>
              </a:rPr>
              <a:t>Matched comparisons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7D480-F2C5-4ED6-8914-D3FFB4C2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Same scene, scale, camera poses, intrinsics, resolution and exposure assumptions; report PSNR/SSIM/LPIPS with masks and failure close-ups.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D11D76-1908-4E13-A609-F63ABBB4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723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D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D5A"/>
                </a:solidFill>
                <a:latin typeface="Arial"/>
                <a:ea typeface="Arial"/>
                <a:cs typeface="Arial"/>
              </a:rPr>
              <a:t>Preserved today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035415-43FD-4D89-855B-3982BBF3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Six native and six S source manifests matched local copies. RGB/depth and control PNGs opened; editor ZIP and compiled plugin hashes matched. Landing and usable splat RGB remain gates.</a:t>
            </a:r>
          </a:p>
        </p:txBody>
      </p:sp>
    </p:spTree>
    <p:extLst>
      <p:ext uri="{BB962C8B-B14F-4D97-AF65-F5344CB8AC3E}">
        <p14:creationId xmlns:p14="http://schemas.microsoft.com/office/powerpoint/2010/main" val="7322793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2026-10-08T22:59:02.4650000Z</dcterms:created>
  <dcterms:modified xsi:type="dcterms:W3CDTF">2026-10-08T22:59:02.4660000Z</dcterms:modified>
</coreProperties>
</file>